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Raed. My project models the 2026 closure of the Strait of Hormuz as a network. The question is simple: how much of Hormuz has to close before a local oil shortage turns into a breakdown of a region's economy, and what is the best way to push that point back? I'll go through the problem, the questions, how the model works, then one slide per answer. About 10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Hormuz normally carries about 21 million barrels a day, roughly a fifth of world oil use. In 2026 it closed: by the second quarter only about 4.9 was getting through, so it was 77% blocked, and Brent went from $69 to around $105. This is a complex system, not a subtraction: oil looks for other routes, regions compete for what's left, prices move, and a shortage in transport spreads to the industries that depend on it. That's why I modelled it as a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six questions. Q1 is the main one: is there a tipping point? Q2 compares three fixes. Q3 asks about a second strait closing at the same time. Q4 is about where emergency reserves sit. Q5 uses the network models from lectures 2 and 3 to ask if the problem is the network's shape or its capacity. Q6 is my extension, where high prices feed back into demand. The rest of the talk answers them in this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2026 papers study the Hormuz closure, so the topic is shared; the differences are in how. An et al., May 2026, is closest: a daily network simulation of industries, but the blockade just deletes Gulf oil, so nothing reroutes. Devetak et al., June 2026, simulate individual ships rerouting, including a Hormuz closure, but stop at the ports. Sharma and Lau, May 2026, optimise India's import network for Hormuz and Bab el-Mandeb disruptions, with the link between them assumed. Hinz et al., March 2026, solve a trade equilibrium. Green means the same as mine, red means different. Mine is smaller and simpler, but it is the only one that joins rerouting, a market with regional reserves, and an industry domino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three networks stacked up, and every simulated day runs left to right. Layer 1 is routing: it decides where oil physically goes and how much each region is short. Layer 2 is the market: each region first uses its own emergency reserve, then one world price is set from the oil that's available. Layer 3 is production: five industries in each region that depend on oil and on each other, so a shortage spreads like dominoes. The output is how much of a region's economy is lost. In the main model the price never changes demand; my extension adds that loop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Layer 1 with Hormuz fully open. Circles are regions that use oil, squares are exporters, diamonds are chokepoints, and line thickness is the oil flow. There are 10 regions, 11 producers of which 6 export, 8 chokepoints and 37 routes. Normally Hormuz carries 17.6 million barrels a day in my model and Malacca about 22, and every region gets all the oil it needs. Watch the thick Gulf-to-Asia line through Hormuz as I close it over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day follows simple rules. Routing: a region uses its own oil first, contracted cargoes take the fastest open route, and spot cargoes go to whoever is shortest of oil. Market: a short region draws on its own reserve, then one price is found where demand matches the oil available. Production: each industry is held back by its own oil or by its suppliers, whichever is worse, and below about 45% of inputs it can't run at all. I call a region systemic when it loses more than 10% of its output, and the threshold is the smallest closure where any region gets there. I find it by bisection: halving the range twelve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30% of Hormuz is closed. Hormuz drops from 17.6 to 14.6, and the oil that can't get through goes round it: the Saudi pipeline takes it to the Red Sea, so the line through Bab el-Mandeb thickens from 2.4 to 5.4. Nobody is short yet. The bypasses absorb the whole closure.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55%, just past the threshold, the escape routes are full. The Saudi pipeline is at its 7 million barrel limit, and North American oil is crossing the Pacific through Panama, which is also full. There's nowhere left for the oil to go, so for the first time regions run short: China gets 86% of its oil and Other Asia 94%. China is the region that tips over the 10% loss line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situation in the second quarter of 2026: 77% closed, only 4.9 million barrels a day through Hormuz. The Gulf-to-Asia line that was the thickest on the map is now thin. China gets only 63% of its oil and Other Asia 83%, while Europe, India and North America are still fully supplied. In total the world is 7.8 short before any reserves are used. India keeps its oil because Gulf-to-India is the shortest voyage, so it's filled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to Q1: yes. Left chart: as Hormuz closes, the Saudi pipeline fills and Bab el-Mandeb traffic rises to 7, its limit, by 40%. Right chart, blue line: almost no shortage until about 45%, because the bypasses absorb it, then it rises steeply to 12.8 million barrels a day at full closure. The first region to lose more than 10% of its output is China, at 53.1% closed. That's the threshold. It hardly moves if I change my assumed shutdown level from 30% to 60%. The red line is the next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compares three fixes in two ways. Blue bars give each fix the same 3 million barrels a day, a fair per-barrel race: extra Saudi pipeline capacity raises the threshold by 14 points, using 2.9% less oil by 7, reserves by 5. Pipelines win because they free real Gulf oil that can go wherever it's needed, while reserves stay in the country that owns them. Orange bars use realistic sizes: reserves give the biggest jump, 19 points, but only until they run out; at 71% closure China's reserve runs dry on day 350 and it turns systemic the next day. All three together add 38 points. Reserves buy time; pipelines buy resilience.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Q3: if Bab el-Mandeb closes too, the shortage at 70% Hormuz closure goes up by about half, from 6.6 to 9.9. That's because the Saudi pipeline, the main way around Hormuz, comes out on the Red Sea and has to pass Bab el-Mandeb. So the bigger the bypass, the more we depend on that second strait. Q4: at full closure, day 100, the price is $236 with no reserves, $151 with real regional reserves, but $81 if all reserves could be pooled. The difference is location: the US, Europe and India aren't short, so about 500 million barrels sit unused while China runs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Q3 experiment: 121 runs, every combination of the two straits in 10% steps. Left: damage as Hormuz closes, one line per Bab el-Mandeb level; the more Bab el-Mandeb is closed, the earlier damage starts. Middle: the other way round; with Hormuz open, closing Bab el-Mandeb does nothing at all, the blue line stays at zero. Right: the heat map of both, darker means more oil missing. The darkest corner, both fully closed, is 16.1 million barrels a day short against 12.8 for Hormuz alone. The stars are the real 2026 situations: Q2 with Hormuz 77% closed, and an approximate September point with the Red Sea route impaired.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121 runs, but now the price from Layer 2. The pattern matches the damage, but the price curves bend upward more steeply, because short-run demand barely responds to price, so each extra missing barrel pushes the price up more than the last. Hormuz fully closed gives about $236; both straits fully closed about $338. These runs have no reserves, so they show the pure pressure on the market. At the real Q2 2026 point the model gives $143 without reserves and $94 with them; the observed $105 sits in between, which is my best validation because nothing about price is set from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price_dynamics.py: the price day by day with no reserves, at three closure levels. The price index is 1 at $69. At 40% closed nothing happens, because the bypasses absorb it. At 70% the price settles near 1.84, about $127, and at full closure near 3.42, about $236. It takes about a month to get there, because each day the price only moves 12% of the way to the level that balances demand with the oil available. The dashed line is the real 2026 level, $105.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spr_depletion.py over 400 days. Left: total reserves going down; at full closure they stop falling around day 350, with about 900 million barrels still left, because the regions that hold them are not short. Centre: the price with realistic regional reserves; it steps up each time a region runs out, Other Asia around day 167 and China on day 350, after which it jumps to the no-reserve level. Right: at full closure, no reserves gives $236, regional reserves $151, and one shared pool $81. The pool helps far more but, because it is all used, it also runs out sooner, around day 220.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Q5 uses the tools from lectures 2 and 3. For this I redraw the routes as a plain graph: 22 nodes and 39 edges. Betweenness says Hormuz is almost the least important node, because only one exporter uses it and that exporter has other ways out. And compared with 200 random graphs of each taught type with the same size, the real network is the most robust: it loses 5.6% of capacity when its most central node goes, against 12 to 24%. So the shape isn't the problem. Hormuz matters because of how much oil it carries, which is why I needed a flow model, not just topology.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extension closes the loop that An et al. left for future work. Each day, high prices make every region buy less, by at most 20%, and the oil they stop buying goes back into the routing for others. With that, the threshold rises from 53 to 64%, and the worst region's loss at full closure falls from 89% to 23%, because the shortage is shared by everyone instead of dumped on Asia. It takes about a month for prices to do this, so 53% describes the first weeks of a closure and 64% describes it once markets adjust. The 20% cap is an assumption; 30% gives the same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 it right? The best check is price, because nothing about price is set from data: at the real Q2 2026 closure the model gives $94 with reserves and $143 without, and the real price, about $105, sits in between. Rerouting goes the right way but is smaller than observed, mostly because I don't model refined products. Limits: routing is a simple greedy rule, not a full market; no product types; several parameters are my assumptions. The threshold is insensitive to those parameters but moved between 38 and 56% as I fixed errors in the model's structure, so I treat 53% as this model's estimate, not a fact about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Q1: there is a tipping point at about 53% closure. Q2: per barrel, bypass pipelines are the best fix; at realistic scale reserves help most but run out. Q3: a second closure at Bab el-Mandeb makes it about half again worse, because the main bypass goes through it. Q4: reserves are in the wrong place; pooling them would roughly halve the price. Q5: the problem is how much oil goes through a few points, not the network's shape. Q6: once prices spread the shortage, the threshold rises to 64%. Thank you;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9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325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325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9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02358"/>
            <a:ext cx="10566400" cy="447040"/>
          </a:xfrm>
          <a:prstGeom prst="rect">
            <a:avLst/>
          </a:prstGeom>
          <a:noFill/>
          <a:ln/>
        </p:spPr>
        <p:txBody>
          <a:bodyPr wrap="square" lIns="0" tIns="0" rIns="0" bIns="0" rtlCol="0" anchor="t"/>
          <a:lstStyle>
            <a:lvl1pPr algn="l" indent="0" marL="0">
              <a:lnSpc>
                <a:spcPct val="115000"/>
              </a:lnSpc>
              <a:buNone/>
              <a:defRPr lang="en-US" sz="3200" dirty="0">
                <a:solidFill>
                  <a:srgbClr val="13253A"/>
                </a:solidFill>
                <a:latin typeface="Source Serif 4" pitchFamily="34" charset="0"/>
                <a:ea typeface="Source Serif 4" pitchFamily="34" charset="-122"/>
                <a:cs typeface="Source Serif 4"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800" y="1854197"/>
            <a:ext cx="10566400" cy="4191003"/>
          </a:xfrm>
          <a:prstGeom prst="rect">
            <a:avLst/>
          </a:prstGeom>
          <a:noFill/>
          <a:ln/>
        </p:spPr>
        <p:txBody>
          <a:bodyPr wrap="square" lIns="0" tIns="0" rIns="0" bIns="0" rtlCol="0" anchor="t"/>
          <a:lstStyle>
            <a:lvl1pPr algn="l" indent="0" marL="0">
              <a:lnSpc>
                <a:spcPct val="140000"/>
              </a:lnSpc>
              <a:buNone/>
              <a:defRPr lang="en-US" sz="1600" dirty="0">
                <a:solidFill>
                  <a:srgbClr val="13253A"/>
                </a:solidFill>
                <a:latin typeface="IBM Plex Sans" pitchFamily="34" charset="0"/>
                <a:ea typeface="IBM Plex Sans" pitchFamily="34" charset="-122"/>
                <a:cs typeface="IBM Plex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53A"/>
        </a:solidFill>
      </p:bgPr>
    </p:bg>
    <p:spTree>
      <p:nvGrpSpPr>
        <p:cNvPr id="1" name=""/>
        <p:cNvGrpSpPr/>
        <p:nvPr/>
      </p:nvGrpSpPr>
      <p:grpSpPr>
        <a:xfrm>
          <a:off x="0" y="0"/>
          <a:ext cx="0" cy="0"/>
          <a:chOff x="0" y="0"/>
          <a:chExt cx="0" cy="0"/>
        </a:xfrm>
      </p:grpSpPr>
      <p:sp>
        <p:nvSpPr>
          <p:cNvPr id="2" name="Text 0"/>
          <p:cNvSpPr/>
          <p:nvPr/>
        </p:nvSpPr>
        <p:spPr>
          <a:xfrm>
            <a:off x="812800" y="1838431"/>
            <a:ext cx="10883392" cy="274320"/>
          </a:xfrm>
          <a:prstGeom prst="rect">
            <a:avLst/>
          </a:prstGeom>
          <a:noFill/>
          <a:ln/>
        </p:spPr>
        <p:txBody>
          <a:bodyPr wrap="square" lIns="0" tIns="0" rIns="0" bIns="0" rtlCol="0" anchor="t">
            <a:normAutofit/>
          </a:bodyPr>
          <a:lstStyle/>
          <a:p>
            <a:pPr algn="l" indent="0" marL="0">
              <a:lnSpc>
                <a:spcPts val="1960"/>
              </a:lnSpc>
              <a:buNone/>
            </a:pPr>
            <a:r>
              <a:rPr lang="en-US" sz="1400" b="1" spc="150" kern="0" dirty="0">
                <a:solidFill>
                  <a:srgbClr val="E8A046"/>
                </a:solidFill>
                <a:latin typeface="IBM Plex Sans" pitchFamily="34" charset="0"/>
                <a:ea typeface="IBM Plex Sans" pitchFamily="34" charset="-122"/>
                <a:cs typeface="IBM Plex Sans" pitchFamily="34" charset="-120"/>
              </a:rPr>
              <a:t>CITS4403 COMPUTATIONAL MODELLING · PROJECT DEMO</a:t>
            </a:r>
            <a:endParaRPr lang="en-US" sz="1400" dirty="0"/>
          </a:p>
        </p:txBody>
      </p:sp>
      <p:sp>
        <p:nvSpPr>
          <p:cNvPr id="3" name="Text 1"/>
          <p:cNvSpPr/>
          <p:nvPr>
            <p:ph type="title"/>
          </p:nvPr>
        </p:nvSpPr>
        <p:spPr>
          <a:xfrm>
            <a:off x="812800" y="2341351"/>
            <a:ext cx="10883392" cy="1342178"/>
          </a:xfrm>
          <a:prstGeom prst="rect">
            <a:avLst/>
          </a:prstGeom>
          <a:noFill/>
          <a:ln/>
        </p:spPr>
        <p:txBody>
          <a:bodyPr wrap="square" lIns="0" tIns="0" rIns="0" bIns="0" rtlCol="0" anchor="t">
            <a:normAutofit/>
          </a:bodyPr>
          <a:lstStyle/>
          <a:p>
            <a:pPr algn="l" indent="0" marL="0">
              <a:lnSpc>
                <a:spcPts val="5184"/>
              </a:lnSpc>
              <a:buNone/>
            </a:pPr>
            <a:r>
              <a:rPr lang="en-US" sz="4800" b="1" i="0" dirty="0">
                <a:solidFill>
                  <a:srgbClr val="F5F2EC"/>
                </a:solidFill>
                <a:latin typeface="Source Serif 4" pitchFamily="18" charset="0"/>
                <a:ea typeface="Source Serif 4" pitchFamily="18" charset="-122"/>
                <a:cs typeface="Source Serif 4" pitchFamily="18" charset="-120"/>
              </a:rPr>
              <a:t>When does closing Hormuz break the world's economy?</a:t>
            </a:r>
            <a:endParaRPr lang="en-US" sz="4800" dirty="0"/>
          </a:p>
        </p:txBody>
      </p:sp>
      <p:sp>
        <p:nvSpPr>
          <p:cNvPr id="4" name="Text 2"/>
          <p:cNvSpPr/>
          <p:nvPr/>
        </p:nvSpPr>
        <p:spPr>
          <a:xfrm>
            <a:off x="812800" y="3912129"/>
            <a:ext cx="10883392" cy="34544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C9D3DF"/>
                </a:solidFill>
                <a:latin typeface="IBM Plex Sans" pitchFamily="34" charset="0"/>
                <a:ea typeface="IBM Plex Sans" pitchFamily="34" charset="-122"/>
                <a:cs typeface="IBM Plex Sans" pitchFamily="34" charset="-120"/>
              </a:rPr>
              <a:t>A three-layer network model of the 2026 Strait of Hormuz closure</a:t>
            </a:r>
            <a:endParaRPr lang="en-US" sz="1800" dirty="0"/>
          </a:p>
        </p:txBody>
      </p:sp>
      <p:sp>
        <p:nvSpPr>
          <p:cNvPr id="5" name="Text 3"/>
          <p:cNvSpPr/>
          <p:nvPr/>
        </p:nvSpPr>
        <p:spPr>
          <a:xfrm>
            <a:off x="812800" y="4486169"/>
            <a:ext cx="10883392"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9D3DF"/>
                </a:solidFill>
                <a:latin typeface="IBM Plex Sans" pitchFamily="34" charset="0"/>
                <a:ea typeface="IBM Plex Sans" pitchFamily="34" charset="-122"/>
                <a:cs typeface="IBM Plex Sans" pitchFamily="34" charset="-120"/>
              </a:rPr>
              <a:t>Raed Rahmanseresht · 21016839</a:t>
            </a:r>
            <a:endParaRPr lang="en-US" sz="1500" dirty="0"/>
          </a:p>
          <a:p>
            <a:pPr algn="l" indent="0" marL="0">
              <a:lnSpc>
                <a:spcPts val="2100"/>
              </a:lnSpc>
              <a:buNone/>
            </a:pPr>
            <a:r>
              <a:rPr lang="en-US" sz="1500" dirty="0">
                <a:solidFill>
                  <a:srgbClr val="C9D3DF"/>
                </a:solidFill>
                <a:latin typeface="IBM Plex Sans" pitchFamily="34" charset="0"/>
                <a:ea typeface="IBM Plex Sans" pitchFamily="34" charset="-122"/>
                <a:cs typeface="IBM Plex Sans" pitchFamily="34" charset="-120"/>
              </a:rPr>
              <a:t>github.com/raed-ra/cits4403-oil-chokepoint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THE SYSTEM</a:t>
            </a:r>
            <a:endParaRPr lang="en-US" sz="1200" dirty="0"/>
          </a:p>
        </p:txBody>
      </p:sp>
      <p:sp>
        <p:nvSpPr>
          <p:cNvPr id="3" name="Text 1"/>
          <p:cNvSpPr/>
          <p:nvPr>
            <p:ph type="title"/>
          </p:nvPr>
        </p:nvSpPr>
        <p:spPr>
          <a:xfrm>
            <a:off x="812800" y="1102360"/>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One strait, a fifth of the world's oil</a:t>
            </a:r>
            <a:endParaRPr lang="en-US" sz="3200" dirty="0"/>
          </a:p>
        </p:txBody>
      </p:sp>
      <p:sp>
        <p:nvSpPr>
          <p:cNvPr id="4" name="Shape 2"/>
          <p:cNvSpPr/>
          <p:nvPr/>
        </p:nvSpPr>
        <p:spPr>
          <a:xfrm>
            <a:off x="815975" y="1908175"/>
            <a:ext cx="3346450" cy="2047875"/>
          </a:xfrm>
          <a:prstGeom prst="roundRect">
            <a:avLst>
              <a:gd name="adj" fmla="val 4806"/>
            </a:avLst>
          </a:prstGeom>
          <a:solidFill>
            <a:srgbClr val="FBF9F5"/>
          </a:solidFill>
          <a:ln w="6350">
            <a:solidFill>
              <a:srgbClr val="D8CFC0"/>
            </a:solidFill>
            <a:prstDash val="solid"/>
          </a:ln>
        </p:spPr>
      </p:sp>
      <p:sp>
        <p:nvSpPr>
          <p:cNvPr id="5" name="Text 3"/>
          <p:cNvSpPr/>
          <p:nvPr/>
        </p:nvSpPr>
        <p:spPr>
          <a:xfrm>
            <a:off x="1123950" y="2216150"/>
            <a:ext cx="2812415"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13253A"/>
                </a:solidFill>
                <a:latin typeface="Source Serif 4" pitchFamily="18" charset="0"/>
                <a:ea typeface="Source Serif 4" pitchFamily="18" charset="-122"/>
                <a:cs typeface="Source Serif 4" pitchFamily="18" charset="-120"/>
              </a:rPr>
              <a:t>20.9</a:t>
            </a:r>
            <a:endParaRPr lang="en-US" sz="4400" dirty="0"/>
          </a:p>
        </p:txBody>
      </p:sp>
      <p:sp>
        <p:nvSpPr>
          <p:cNvPr id="6" name="Text 4"/>
          <p:cNvSpPr/>
          <p:nvPr/>
        </p:nvSpPr>
        <p:spPr>
          <a:xfrm>
            <a:off x="1123950" y="2876550"/>
            <a:ext cx="2812415"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F4B5A"/>
                </a:solidFill>
                <a:latin typeface="IBM Plex Sans" pitchFamily="34" charset="0"/>
                <a:ea typeface="IBM Plex Sans" pitchFamily="34" charset="-122"/>
                <a:cs typeface="IBM Plex Sans" pitchFamily="34" charset="-120"/>
              </a:rPr>
              <a:t>million barrels a day normally pass Hormuz — about 1 in 5 barrels used worldwide</a:t>
            </a:r>
            <a:endParaRPr lang="en-US" sz="1500" dirty="0"/>
          </a:p>
        </p:txBody>
      </p:sp>
      <p:sp>
        <p:nvSpPr>
          <p:cNvPr id="7" name="Shape 5"/>
          <p:cNvSpPr/>
          <p:nvPr/>
        </p:nvSpPr>
        <p:spPr>
          <a:xfrm>
            <a:off x="4422775" y="1908175"/>
            <a:ext cx="3346450" cy="2047875"/>
          </a:xfrm>
          <a:prstGeom prst="roundRect">
            <a:avLst>
              <a:gd name="adj" fmla="val 4806"/>
            </a:avLst>
          </a:prstGeom>
          <a:solidFill>
            <a:srgbClr val="FBF9F5"/>
          </a:solidFill>
          <a:ln w="6350">
            <a:solidFill>
              <a:srgbClr val="D8CFC0"/>
            </a:solidFill>
            <a:prstDash val="solid"/>
          </a:ln>
        </p:spPr>
      </p:sp>
      <p:sp>
        <p:nvSpPr>
          <p:cNvPr id="8" name="Text 6"/>
          <p:cNvSpPr/>
          <p:nvPr/>
        </p:nvSpPr>
        <p:spPr>
          <a:xfrm>
            <a:off x="4730750" y="2216150"/>
            <a:ext cx="2812415"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C1272D"/>
                </a:solidFill>
                <a:latin typeface="Source Serif 4" pitchFamily="18" charset="0"/>
                <a:ea typeface="Source Serif 4" pitchFamily="18" charset="-122"/>
                <a:cs typeface="Source Serif 4" pitchFamily="18" charset="-120"/>
              </a:rPr>
              <a:t>4.9</a:t>
            </a:r>
            <a:endParaRPr lang="en-US" sz="4400" dirty="0"/>
          </a:p>
        </p:txBody>
      </p:sp>
      <p:sp>
        <p:nvSpPr>
          <p:cNvPr id="9" name="Text 7"/>
          <p:cNvSpPr/>
          <p:nvPr/>
        </p:nvSpPr>
        <p:spPr>
          <a:xfrm>
            <a:off x="4730750" y="2876550"/>
            <a:ext cx="281241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F4B5A"/>
                </a:solidFill>
                <a:latin typeface="IBM Plex Sans" pitchFamily="34" charset="0"/>
                <a:ea typeface="IBM Plex Sans" pitchFamily="34" charset="-122"/>
                <a:cs typeface="IBM Plex Sans" pitchFamily="34" charset="-120"/>
              </a:rPr>
              <a:t>still flowing in Q2 2026 — the strait was 77% blocked</a:t>
            </a:r>
            <a:endParaRPr lang="en-US" sz="1500" dirty="0"/>
          </a:p>
        </p:txBody>
      </p:sp>
      <p:sp>
        <p:nvSpPr>
          <p:cNvPr id="10" name="Shape 8"/>
          <p:cNvSpPr/>
          <p:nvPr/>
        </p:nvSpPr>
        <p:spPr>
          <a:xfrm>
            <a:off x="8029575" y="1908175"/>
            <a:ext cx="3346450" cy="2047875"/>
          </a:xfrm>
          <a:prstGeom prst="roundRect">
            <a:avLst>
              <a:gd name="adj" fmla="val 4806"/>
            </a:avLst>
          </a:prstGeom>
          <a:solidFill>
            <a:srgbClr val="FBF9F5"/>
          </a:solidFill>
          <a:ln w="6350">
            <a:solidFill>
              <a:srgbClr val="D8CFC0"/>
            </a:solidFill>
            <a:prstDash val="solid"/>
          </a:ln>
        </p:spPr>
      </p:sp>
      <p:sp>
        <p:nvSpPr>
          <p:cNvPr id="11" name="Text 9"/>
          <p:cNvSpPr/>
          <p:nvPr/>
        </p:nvSpPr>
        <p:spPr>
          <a:xfrm>
            <a:off x="8337550" y="2216150"/>
            <a:ext cx="3035300" cy="584200"/>
          </a:xfrm>
          <a:prstGeom prst="rect">
            <a:avLst/>
          </a:prstGeom>
          <a:noFill/>
          <a:ln/>
        </p:spPr>
        <p:txBody>
          <a:bodyPr wrap="square" lIns="0" tIns="0" rIns="0" bIns="0" rtlCol="0" anchor="t">
            <a:normAutofit/>
          </a:bodyPr>
          <a:lstStyle/>
          <a:p>
            <a:pPr algn="l" indent="0" marL="0">
              <a:lnSpc>
                <a:spcPts val="4400"/>
              </a:lnSpc>
              <a:buNone/>
            </a:pPr>
            <a:r>
              <a:rPr lang="en-US" sz="4400" b="1" dirty="0">
                <a:solidFill>
                  <a:srgbClr val="96560A"/>
                </a:solidFill>
                <a:latin typeface="Source Serif 4" pitchFamily="18" charset="0"/>
                <a:ea typeface="Source Serif 4" pitchFamily="18" charset="-122"/>
                <a:cs typeface="Source Serif 4" pitchFamily="18" charset="-120"/>
              </a:rPr>
              <a:t>$69→$105</a:t>
            </a:r>
            <a:endParaRPr lang="en-US" sz="4400" dirty="0"/>
          </a:p>
        </p:txBody>
      </p:sp>
      <p:sp>
        <p:nvSpPr>
          <p:cNvPr id="12" name="Text 10"/>
          <p:cNvSpPr/>
          <p:nvPr/>
        </p:nvSpPr>
        <p:spPr>
          <a:xfrm>
            <a:off x="8337550" y="2876550"/>
            <a:ext cx="2812415"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F4B5A"/>
                </a:solidFill>
                <a:latin typeface="IBM Plex Sans" pitchFamily="34" charset="0"/>
                <a:ea typeface="IBM Plex Sans" pitchFamily="34" charset="-122"/>
                <a:cs typeface="IBM Plex Sans" pitchFamily="34" charset="-120"/>
              </a:rPr>
              <a:t>Brent price per barrel, February to Q2 2026</a:t>
            </a:r>
            <a:endParaRPr lang="en-US" sz="1500" dirty="0"/>
          </a:p>
        </p:txBody>
      </p:sp>
      <p:sp>
        <p:nvSpPr>
          <p:cNvPr id="13" name="Text 11"/>
          <p:cNvSpPr/>
          <p:nvPr/>
        </p:nvSpPr>
        <p:spPr>
          <a:xfrm>
            <a:off x="812800" y="4314825"/>
            <a:ext cx="10883392" cy="5943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3F4B5A"/>
                </a:solidFill>
                <a:latin typeface="IBM Plex Sans" pitchFamily="34" charset="0"/>
                <a:ea typeface="IBM Plex Sans" pitchFamily="34" charset="-122"/>
                <a:cs typeface="IBM Plex Sans" pitchFamily="34" charset="-120"/>
              </a:rPr>
              <a:t>It is a complex system: oil reroutes, regions compete for cargoes, prices rise, and shortages spread from one industry to the next.</a:t>
            </a:r>
            <a:endParaRPr lang="en-US" sz="1600" dirty="0"/>
          </a:p>
        </p:txBody>
      </p:sp>
      <p:sp>
        <p:nvSpPr>
          <p:cNvPr id="14" name="Text 1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Sources: EIA (2024, 2026), IEA (2026) · CITS4403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RESEARCH QUESTIONS</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Six questions the model answers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100"/>
          <a:ext cx="10553700" cy="2476500"/>
        </p:xfrm>
        <a:graphic>
          <a:graphicData uri="http://schemas.openxmlformats.org/drawingml/2006/table">
            <a:tbl>
              <a:tblPr/>
              <a:tblGrid>
                <a:gridCol w="949833"/>
                <a:gridCol w="9603867"/>
              </a:tblGrid>
              <a:tr h="412750">
                <a:tc>
                  <a:txBody>
                    <a:bodyPr/>
                    <a:lstStyle/>
                    <a:p>
                      <a:pPr indent="0" marL="0">
                        <a:lnSpc>
                          <a:spcPts val="2100"/>
                        </a:lnSpc>
                        <a:buNone/>
                      </a:pPr>
                      <a:r>
                        <a:rPr lang="en-US" sz="1500" b="1" dirty="0">
                          <a:solidFill>
                            <a:srgbClr val="96560A"/>
                          </a:solidFill>
                          <a:latin typeface="IBM Plex Sans" pitchFamily="34" charset="0"/>
                          <a:ea typeface="IBM Plex Sans" pitchFamily="34" charset="-122"/>
                          <a:cs typeface="IBM Plex Sans" pitchFamily="34" charset="-120"/>
                        </a:rPr>
                        <a:t>Q1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1BC"/>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c>
                  <a:txBody>
                    <a:bodyPr/>
                    <a:lstStyle/>
                    <a:p>
                      <a:pPr indent="0" marL="0">
                        <a:lnSpc>
                          <a:spcPts val="2100"/>
                        </a:lnSpc>
                        <a:buNone/>
                      </a:pPr>
                      <a:r>
                        <a:rPr lang="en-US" sz="1500" b="1" dirty="0">
                          <a:solidFill>
                            <a:srgbClr val="13253A"/>
                          </a:solidFill>
                          <a:latin typeface="IBM Plex Sans" pitchFamily="34" charset="0"/>
                          <a:ea typeface="IBM Plex Sans" pitchFamily="34" charset="-122"/>
                          <a:cs typeface="IBM Plex Sans" pitchFamily="34" charset="-120"/>
                        </a:rPr>
                        <a:t>Is there a closure level where a local shortage turns into economic breakdown?</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B5B3AF"/>
                      </a:solidFill>
                      <a:prstDash val="solid"/>
                      <a:round/>
                      <a:headEnd type="none" w="med" len="med"/>
                      <a:tailEnd type="none" w="med" len="med"/>
                    </a:lnL>
                    <a:lnR w="12700" cap="flat" cmpd="sng" algn="ctr">
                      <a:solidFill>
                        <a:srgbClr val="B5B3AF"/>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B5B3AF"/>
                      </a:solidFill>
                      <a:prstDash val="solid"/>
                      <a:round/>
                      <a:headEnd type="none" w="med" len="med"/>
                      <a:tailEnd type="none" w="med" len="med"/>
                    </a:lnB>
                    <a:solidFill>
                      <a:srgbClr val="E3E0DB"/>
                    </a:solidFill>
                  </a:tcPr>
                </a:tc>
              </a:tr>
              <a:tr h="412750">
                <a:tc>
                  <a:txBody>
                    <a:bodyPr/>
                    <a:lstStyle/>
                    <a:p>
                      <a:pPr indent="0" marL="0">
                        <a:lnSpc>
                          <a:spcPts val="2100"/>
                        </a:lnSpc>
                        <a:buNone/>
                      </a:pPr>
                      <a:r>
                        <a:rPr lang="en-US" sz="1500" dirty="0">
                          <a:solidFill>
                            <a:srgbClr val="96560A"/>
                          </a:solidFill>
                          <a:latin typeface="IBM Plex Sans" pitchFamily="34" charset="0"/>
                          <a:ea typeface="IBM Plex Sans" pitchFamily="34" charset="-122"/>
                          <a:cs typeface="IBM Plex Sans" pitchFamily="34" charset="-120"/>
                        </a:rPr>
                        <a:t>Q2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Which fix pushes that level back most — bypass pipelines, using less oil, or emergency reserves?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B5B3AF"/>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96560A"/>
                          </a:solidFill>
                          <a:latin typeface="IBM Plex Sans" pitchFamily="34" charset="0"/>
                          <a:ea typeface="IBM Plex Sans" pitchFamily="34" charset="-122"/>
                          <a:cs typeface="IBM Plex Sans" pitchFamily="34" charset="-120"/>
                        </a:rPr>
                        <a:t>Q3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Does closing a second strait (Bab el-Mandeb) make it worse?</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96560A"/>
                          </a:solidFill>
                          <a:latin typeface="IBM Plex Sans" pitchFamily="34" charset="0"/>
                          <a:ea typeface="IBM Plex Sans" pitchFamily="34" charset="-122"/>
                          <a:cs typeface="IBM Plex Sans" pitchFamily="34" charset="-120"/>
                        </a:rPr>
                        <a:t>Q4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Does it matter where the emergency reserves are stored?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96560A"/>
                          </a:solidFill>
                          <a:latin typeface="IBM Plex Sans" pitchFamily="34" charset="0"/>
                          <a:ea typeface="IBM Plex Sans" pitchFamily="34" charset="-122"/>
                          <a:cs typeface="IBM Plex Sans" pitchFamily="34" charset="-120"/>
                        </a:rPr>
                        <a:t>Q5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Is the network fragile because of its shape, or because of how much it carries?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r h="412750">
                <a:tc>
                  <a:txBody>
                    <a:bodyPr/>
                    <a:lstStyle/>
                    <a:p>
                      <a:pPr indent="0" marL="0">
                        <a:lnSpc>
                          <a:spcPts val="2100"/>
                        </a:lnSpc>
                        <a:buNone/>
                      </a:pPr>
                      <a:r>
                        <a:rPr lang="en-US" sz="1500" dirty="0">
                          <a:solidFill>
                            <a:srgbClr val="96560A"/>
                          </a:solidFill>
                          <a:latin typeface="IBM Plex Sans" pitchFamily="34" charset="0"/>
                          <a:ea typeface="IBM Plex Sans" pitchFamily="34" charset="-122"/>
                          <a:cs typeface="IBM Plex Sans" pitchFamily="34" charset="-120"/>
                        </a:rPr>
                        <a:t>Q6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c>
                  <a:txBody>
                    <a:bodyPr/>
                    <a:lstStyle/>
                    <a:p>
                      <a:pPr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Extension: what changes when high prices make people buy less?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C4C1BC"/>
                      </a:solidFill>
                      <a:prstDash val="solid"/>
                      <a:round/>
                      <a:headEnd type="none" w="med" len="med"/>
                      <a:tailEnd type="none" w="med" len="med"/>
                    </a:lnL>
                    <a:lnR w="12700" cap="flat" cmpd="sng" algn="ctr">
                      <a:solidFill>
                        <a:srgbClr val="C4C1BC"/>
                      </a:solidFill>
                      <a:prstDash val="solid"/>
                      <a:round/>
                      <a:headEnd type="none" w="med" len="med"/>
                      <a:tailEnd type="none" w="med" len="med"/>
                    </a:lnR>
                    <a:lnT w="12700" cap="flat" cmpd="sng" algn="ctr">
                      <a:solidFill>
                        <a:srgbClr val="C4C1BC"/>
                      </a:solidFill>
                      <a:prstDash val="solid"/>
                      <a:round/>
                      <a:headEnd type="none" w="med" len="med"/>
                      <a:tailEnd type="none" w="med" len="med"/>
                    </a:lnT>
                    <a:lnB w="12700" cap="flat" cmpd="sng" algn="ctr">
                      <a:solidFill>
                        <a:srgbClr val="C4C1BC"/>
                      </a:solidFill>
                      <a:prstDash val="solid"/>
                      <a:round/>
                      <a:headEnd type="none" w="med" len="med"/>
                      <a:tailEnd type="none" w="med" len="med"/>
                    </a:lnB>
                  </a:tcPr>
                </a:tc>
              </a:tr>
            </a:tbl>
          </a:graphicData>
        </a:graphic>
      </p:graphicFrame>
      <p:sp>
        <p:nvSpPr>
          <p:cNvPr id="5" name="Text 2"/>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CITS4403 · 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WHAT IS NEW</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Each 2026 study models one piece; mine joins them</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700"/>
          <a:ext cx="10553700" cy="2542540"/>
        </p:xfrm>
        <a:graphic>
          <a:graphicData uri="http://schemas.openxmlformats.org/drawingml/2006/table">
            <a:tbl>
              <a:tblPr/>
              <a:tblGrid>
                <a:gridCol w="2110740"/>
                <a:gridCol w="1688592"/>
                <a:gridCol w="1688592"/>
                <a:gridCol w="1688592"/>
                <a:gridCol w="1688592"/>
                <a:gridCol w="1688592"/>
              </a:tblGrid>
              <a:tr h="546100">
                <a:tc>
                  <a:txBody>
                    <a:bodyPr/>
                    <a:lstStyle/>
                    <a:p>
                      <a:pPr indent="0" marL="0">
                        <a:lnSpc>
                          <a:spcPts val="1680"/>
                        </a:lnSpc>
                        <a:buNone/>
                      </a:pP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indent="0" marL="0">
                        <a:lnSpc>
                          <a:spcPts val="1680"/>
                        </a:lnSpc>
                        <a:buNone/>
                      </a:pPr>
                      <a:r>
                        <a:rPr lang="en-US" sz="1200" b="1" dirty="0">
                          <a:solidFill>
                            <a:srgbClr val="13253A"/>
                          </a:solidFill>
                          <a:latin typeface="IBM Plex Sans" pitchFamily="34" charset="0"/>
                          <a:ea typeface="IBM Plex Sans" pitchFamily="34" charset="-122"/>
                          <a:cs typeface="IBM Plex Sans" pitchFamily="34" charset="-120"/>
                        </a:rPr>
                        <a:t>An et al.</a:t>
                      </a:r>
                      <a:endParaRPr lang="en-US" sz="1200" dirty="0">
                        <a:latin typeface="IBM Plex Sans" charset="0"/>
                        <a:ea typeface="IBM Plex Sans" charset="0"/>
                        <a:cs typeface="IBM Plex Sans" charset="0"/>
                      </a:endParaRPr>
                    </a:p>
                    <a:p>
                      <a:pPr indent="0" marL="0">
                        <a:lnSpc>
                          <a:spcPts val="1680"/>
                        </a:lnSpc>
                        <a:buNone/>
                      </a:pPr>
                      <a:r>
                        <a:rPr lang="en-US" sz="1200" b="1" dirty="0">
                          <a:solidFill>
                            <a:srgbClr val="13253A"/>
                          </a:solidFill>
                          <a:latin typeface="IBM Plex Sans" pitchFamily="34" charset="0"/>
                          <a:ea typeface="IBM Plex Sans" pitchFamily="34" charset="-122"/>
                          <a:cs typeface="IBM Plex Sans" pitchFamily="34" charset="-120"/>
                        </a:rPr>
                        <a:t>May 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indent="0" marL="0">
                        <a:lnSpc>
                          <a:spcPts val="1680"/>
                        </a:lnSpc>
                        <a:buNone/>
                      </a:pPr>
                      <a:r>
                        <a:rPr lang="en-US" sz="1200" b="1" dirty="0">
                          <a:solidFill>
                            <a:srgbClr val="13253A"/>
                          </a:solidFill>
                          <a:latin typeface="IBM Plex Sans" pitchFamily="34" charset="0"/>
                          <a:ea typeface="IBM Plex Sans" pitchFamily="34" charset="-122"/>
                          <a:cs typeface="IBM Plex Sans" pitchFamily="34" charset="-120"/>
                        </a:rPr>
                        <a:t>Devetak et al.</a:t>
                      </a:r>
                      <a:endParaRPr lang="en-US" sz="1200" dirty="0">
                        <a:latin typeface="IBM Plex Sans" charset="0"/>
                        <a:ea typeface="IBM Plex Sans" charset="0"/>
                        <a:cs typeface="IBM Plex Sans" charset="0"/>
                      </a:endParaRPr>
                    </a:p>
                    <a:p>
                      <a:pPr indent="0" marL="0">
                        <a:lnSpc>
                          <a:spcPts val="1680"/>
                        </a:lnSpc>
                        <a:buNone/>
                      </a:pPr>
                      <a:r>
                        <a:rPr lang="en-US" sz="1200" b="1" dirty="0">
                          <a:solidFill>
                            <a:srgbClr val="13253A"/>
                          </a:solidFill>
                          <a:latin typeface="IBM Plex Sans" pitchFamily="34" charset="0"/>
                          <a:ea typeface="IBM Plex Sans" pitchFamily="34" charset="-122"/>
                          <a:cs typeface="IBM Plex Sans" pitchFamily="34" charset="-120"/>
                        </a:rPr>
                        <a:t>June 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indent="0" marL="0">
                        <a:lnSpc>
                          <a:spcPts val="1680"/>
                        </a:lnSpc>
                        <a:buNone/>
                      </a:pPr>
                      <a:r>
                        <a:rPr lang="en-US" sz="1200" b="1" dirty="0">
                          <a:solidFill>
                            <a:srgbClr val="13253A"/>
                          </a:solidFill>
                          <a:latin typeface="IBM Plex Sans" pitchFamily="34" charset="0"/>
                          <a:ea typeface="IBM Plex Sans" pitchFamily="34" charset="-122"/>
                          <a:cs typeface="IBM Plex Sans" pitchFamily="34" charset="-120"/>
                        </a:rPr>
                        <a:t>Sharma &amp; Lau</a:t>
                      </a:r>
                      <a:endParaRPr lang="en-US" sz="1200" dirty="0">
                        <a:latin typeface="IBM Plex Sans" charset="0"/>
                        <a:ea typeface="IBM Plex Sans" charset="0"/>
                        <a:cs typeface="IBM Plex Sans" charset="0"/>
                      </a:endParaRPr>
                    </a:p>
                    <a:p>
                      <a:pPr indent="0" marL="0">
                        <a:lnSpc>
                          <a:spcPts val="1680"/>
                        </a:lnSpc>
                        <a:buNone/>
                      </a:pPr>
                      <a:r>
                        <a:rPr lang="en-US" sz="1200" b="1" dirty="0">
                          <a:solidFill>
                            <a:srgbClr val="13253A"/>
                          </a:solidFill>
                          <a:latin typeface="IBM Plex Sans" pitchFamily="34" charset="0"/>
                          <a:ea typeface="IBM Plex Sans" pitchFamily="34" charset="-122"/>
                          <a:cs typeface="IBM Plex Sans" pitchFamily="34" charset="-120"/>
                        </a:rPr>
                        <a:t>May 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indent="0" marL="0">
                        <a:lnSpc>
                          <a:spcPts val="1680"/>
                        </a:lnSpc>
                        <a:buNone/>
                      </a:pPr>
                      <a:r>
                        <a:rPr lang="en-US" sz="1200" b="1" dirty="0">
                          <a:solidFill>
                            <a:srgbClr val="13253A"/>
                          </a:solidFill>
                          <a:latin typeface="IBM Plex Sans" pitchFamily="34" charset="0"/>
                          <a:ea typeface="IBM Plex Sans" pitchFamily="34" charset="-122"/>
                          <a:cs typeface="IBM Plex Sans" pitchFamily="34" charset="-120"/>
                        </a:rPr>
                        <a:t>Hinz et al.</a:t>
                      </a:r>
                      <a:endParaRPr lang="en-US" sz="1200" dirty="0">
                        <a:latin typeface="IBM Plex Sans" charset="0"/>
                        <a:ea typeface="IBM Plex Sans" charset="0"/>
                        <a:cs typeface="IBM Plex Sans" charset="0"/>
                      </a:endParaRPr>
                    </a:p>
                    <a:p>
                      <a:pPr indent="0" marL="0">
                        <a:lnSpc>
                          <a:spcPts val="1680"/>
                        </a:lnSpc>
                        <a:buNone/>
                      </a:pPr>
                      <a:r>
                        <a:rPr lang="en-US" sz="1200" b="1" dirty="0">
                          <a:solidFill>
                            <a:srgbClr val="13253A"/>
                          </a:solidFill>
                          <a:latin typeface="IBM Plex Sans" pitchFamily="34" charset="0"/>
                          <a:ea typeface="IBM Plex Sans" pitchFamily="34" charset="-122"/>
                          <a:cs typeface="IBM Plex Sans" pitchFamily="34" charset="-120"/>
                        </a:rPr>
                        <a:t>March 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c>
                  <a:txBody>
                    <a:bodyPr/>
                    <a:lstStyle/>
                    <a:p>
                      <a:pPr indent="0" marL="0">
                        <a:lnSpc>
                          <a:spcPts val="1680"/>
                        </a:lnSpc>
                        <a:buNone/>
                      </a:pPr>
                      <a:r>
                        <a:rPr lang="en-US" sz="1200" b="1" dirty="0">
                          <a:solidFill>
                            <a:srgbClr val="96560A"/>
                          </a:solidFill>
                          <a:latin typeface="IBM Plex Sans" pitchFamily="34" charset="0"/>
                          <a:ea typeface="IBM Plex Sans" pitchFamily="34" charset="-122"/>
                          <a:cs typeface="IBM Plex Sans" pitchFamily="34" charset="-120"/>
                        </a:rPr>
                        <a:t>This project</a:t>
                      </a:r>
                      <a:endParaRPr lang="en-US" sz="1200" dirty="0">
                        <a:latin typeface="IBM Plex Sans" charset="0"/>
                        <a:ea typeface="IBM Plex Sans" charset="0"/>
                        <a:cs typeface="IBM Plex Sans" charset="0"/>
                      </a:endParaRPr>
                    </a:p>
                    <a:p>
                      <a:pPr indent="0" marL="0">
                        <a:lnSpc>
                          <a:spcPts val="1680"/>
                        </a:lnSpc>
                        <a:buNone/>
                      </a:pPr>
                      <a:r>
                        <a:rPr lang="en-US" sz="1200" b="1" dirty="0">
                          <a:solidFill>
                            <a:srgbClr val="96560A"/>
                          </a:solidFill>
                          <a:latin typeface="IBM Plex Sans" pitchFamily="34" charset="0"/>
                          <a:ea typeface="IBM Plex Sans" pitchFamily="34" charset="-122"/>
                          <a:cs typeface="IBM Plex Sans" pitchFamily="34" charset="-120"/>
                        </a:rPr>
                        <a:t>Oct 2026</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BAB9B5"/>
                      </a:solidFill>
                      <a:prstDash val="solid"/>
                      <a:round/>
                      <a:headEnd type="none" w="med" len="med"/>
                      <a:tailEnd type="none" w="med" len="med"/>
                    </a:lnL>
                    <a:lnR w="12700" cap="flat" cmpd="sng" algn="ctr">
                      <a:solidFill>
                        <a:srgbClr val="BAB9B5"/>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BAB9B5"/>
                      </a:solidFill>
                      <a:prstDash val="solid"/>
                      <a:round/>
                      <a:headEnd type="none" w="med" len="med"/>
                      <a:tailEnd type="none" w="med" len="med"/>
                    </a:lnB>
                    <a:solidFill>
                      <a:srgbClr val="E9E7E3"/>
                    </a:solidFill>
                  </a:tcPr>
                </a:tc>
              </a:tr>
              <a:tr h="332740">
                <a:tc>
                  <a:txBody>
                    <a:bodyPr/>
                    <a:lstStyle/>
                    <a:p>
                      <a:pPr indent="0" marL="0">
                        <a:lnSpc>
                          <a:spcPts val="1680"/>
                        </a:lnSpc>
                        <a:buNone/>
                      </a:pPr>
                      <a:r>
                        <a:rPr lang="en-US" sz="1200" dirty="0">
                          <a:solidFill>
                            <a:srgbClr val="13253A"/>
                          </a:solidFill>
                          <a:latin typeface="IBM Plex Sans" pitchFamily="34" charset="0"/>
                          <a:ea typeface="IBM Plex Sans" pitchFamily="34" charset="-122"/>
                          <a:cs typeface="IBM Plex Sans" pitchFamily="34" charset="-120"/>
                        </a:rPr>
                        <a:t>Hormuz closure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1E7A3C"/>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1E7A3C"/>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1E7A3C"/>
                          </a:solidFill>
                          <a:latin typeface="IBM Plex Sans" pitchFamily="34" charset="0"/>
                          <a:ea typeface="IBM Plex Sans" pitchFamily="34" charset="-122"/>
                          <a:cs typeface="IBM Plex Sans" pitchFamily="34" charset="-120"/>
                        </a:rPr>
                        <a:t>Yes (India)</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1E7A3C"/>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96560A"/>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BAB9B5"/>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r>
              <a:tr h="332740">
                <a:tc>
                  <a:txBody>
                    <a:bodyPr/>
                    <a:lstStyle/>
                    <a:p>
                      <a:pPr indent="0" marL="0">
                        <a:lnSpc>
                          <a:spcPts val="1680"/>
                        </a:lnSpc>
                        <a:buNone/>
                      </a:pPr>
                      <a:r>
                        <a:rPr lang="en-US" sz="1200" dirty="0">
                          <a:solidFill>
                            <a:srgbClr val="13253A"/>
                          </a:solidFill>
                          <a:latin typeface="IBM Plex Sans" pitchFamily="34" charset="0"/>
                          <a:ea typeface="IBM Plex Sans" pitchFamily="34" charset="-122"/>
                          <a:cs typeface="IBM Plex Sans" pitchFamily="34" charset="-120"/>
                        </a:rPr>
                        <a:t>Model type</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1E7A3C"/>
                          </a:solidFill>
                          <a:latin typeface="IBM Plex Sans" pitchFamily="34" charset="0"/>
                          <a:ea typeface="IBM Plex Sans" pitchFamily="34" charset="-122"/>
                          <a:cs typeface="IBM Plex Sans" pitchFamily="34" charset="-120"/>
                        </a:rPr>
                        <a:t>Daily simulation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Ship agents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Optimisation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Equilibrium</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96560A"/>
                          </a:solidFill>
                          <a:latin typeface="IBM Plex Sans" pitchFamily="34" charset="0"/>
                          <a:ea typeface="IBM Plex Sans" pitchFamily="34" charset="-122"/>
                          <a:cs typeface="IBM Plex Sans" pitchFamily="34" charset="-120"/>
                        </a:rPr>
                        <a:t>Daily simulation</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r>
              <a:tr h="332740">
                <a:tc>
                  <a:txBody>
                    <a:bodyPr/>
                    <a:lstStyle/>
                    <a:p>
                      <a:pPr indent="0" marL="0">
                        <a:lnSpc>
                          <a:spcPts val="1680"/>
                        </a:lnSpc>
                        <a:buNone/>
                      </a:pPr>
                      <a:r>
                        <a:rPr lang="en-US" sz="1200" dirty="0">
                          <a:solidFill>
                            <a:srgbClr val="13253A"/>
                          </a:solidFill>
                          <a:latin typeface="IBM Plex Sans" pitchFamily="34" charset="0"/>
                          <a:ea typeface="IBM Plex Sans" pitchFamily="34" charset="-122"/>
                          <a:cs typeface="IBM Plex Sans" pitchFamily="34" charset="-120"/>
                        </a:rPr>
                        <a:t>Oil reroutes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1E7A3C"/>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1E7A3C"/>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96560A"/>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r>
              <a:tr h="332740">
                <a:tc>
                  <a:txBody>
                    <a:bodyPr/>
                    <a:lstStyle/>
                    <a:p>
                      <a:pPr indent="0" marL="0">
                        <a:lnSpc>
                          <a:spcPts val="1680"/>
                        </a:lnSpc>
                        <a:buNone/>
                      </a:pPr>
                      <a:r>
                        <a:rPr lang="en-US" sz="1200" dirty="0">
                          <a:solidFill>
                            <a:srgbClr val="13253A"/>
                          </a:solidFill>
                          <a:latin typeface="IBM Plex Sans" pitchFamily="34" charset="0"/>
                          <a:ea typeface="IBM Plex Sans" pitchFamily="34" charset="-122"/>
                          <a:cs typeface="IBM Plex Sans" pitchFamily="34" charset="-120"/>
                        </a:rPr>
                        <a:t>Industry domino effect</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1E7A3C"/>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1E7A3C"/>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96560A"/>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r>
              <a:tr h="332740">
                <a:tc>
                  <a:txBody>
                    <a:bodyPr/>
                    <a:lstStyle/>
                    <a:p>
                      <a:pPr indent="0" marL="0">
                        <a:lnSpc>
                          <a:spcPts val="1680"/>
                        </a:lnSpc>
                        <a:buNone/>
                      </a:pPr>
                      <a:r>
                        <a:rPr lang="en-US" sz="1200" dirty="0">
                          <a:solidFill>
                            <a:srgbClr val="13253A"/>
                          </a:solidFill>
                          <a:latin typeface="IBM Plex Sans" pitchFamily="34" charset="0"/>
                          <a:ea typeface="IBM Plex Sans" pitchFamily="34" charset="-122"/>
                          <a:cs typeface="IBM Plex Sans" pitchFamily="34" charset="-120"/>
                        </a:rPr>
                        <a:t>Regional reserves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Own only</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96560A"/>
                          </a:solidFill>
                          <a:latin typeface="IBM Plex Sans" pitchFamily="34" charset="0"/>
                          <a:ea typeface="IBM Plex Sans" pitchFamily="34" charset="-122"/>
                          <a:cs typeface="IBM Plex Sans" pitchFamily="34" charset="-120"/>
                        </a:rPr>
                        <a:t>Yes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r>
              <a:tr h="332740">
                <a:tc>
                  <a:txBody>
                    <a:bodyPr/>
                    <a:lstStyle/>
                    <a:p>
                      <a:pPr indent="0" marL="0">
                        <a:lnSpc>
                          <a:spcPts val="1680"/>
                        </a:lnSpc>
                        <a:buNone/>
                      </a:pPr>
                      <a:r>
                        <a:rPr lang="en-US" sz="1200" dirty="0">
                          <a:solidFill>
                            <a:srgbClr val="13253A"/>
                          </a:solidFill>
                          <a:latin typeface="IBM Plex Sans" pitchFamily="34" charset="0"/>
                          <a:ea typeface="IBM Plex Sans" pitchFamily="34" charset="-122"/>
                          <a:cs typeface="IBM Plex Sans" pitchFamily="34" charset="-120"/>
                        </a:rPr>
                        <a:t>Second strait linked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Assumed</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B42318"/>
                          </a:solidFill>
                          <a:latin typeface="IBM Plex Sans" pitchFamily="34" charset="0"/>
                          <a:ea typeface="IBM Plex Sans" pitchFamily="34" charset="-122"/>
                          <a:cs typeface="IBM Plex Sans" pitchFamily="34" charset="-120"/>
                        </a:rPr>
                        <a:t>No</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c>
                  <a:txBody>
                    <a:bodyPr/>
                    <a:lstStyle/>
                    <a:p>
                      <a:pPr indent="0" marL="0">
                        <a:lnSpc>
                          <a:spcPts val="1680"/>
                        </a:lnSpc>
                        <a:buNone/>
                      </a:pPr>
                      <a:r>
                        <a:rPr lang="en-US" sz="1200" dirty="0">
                          <a:solidFill>
                            <a:srgbClr val="96560A"/>
                          </a:solidFill>
                          <a:latin typeface="IBM Plex Sans" pitchFamily="34" charset="0"/>
                          <a:ea typeface="IBM Plex Sans" pitchFamily="34" charset="-122"/>
                          <a:cs typeface="IBM Plex Sans" pitchFamily="34" charset="-120"/>
                        </a:rPr>
                        <a:t>Emerges</a:t>
                      </a:r>
                      <a:endParaRPr lang="en-US" sz="1200" dirty="0">
                        <a:latin typeface="IBM Plex Sans" charset="0"/>
                        <a:ea typeface="IBM Plex Sans" charset="0"/>
                        <a:cs typeface="IBM Plex Sans" charset="0"/>
                      </a:endParaRPr>
                    </a:p>
                  </a:txBody>
                  <a:tcPr marL="53340" marR="53340" marT="53340" marB="53340" anchor="t">
                    <a:lnL w="12700" cap="flat" cmpd="sng" algn="ctr">
                      <a:solidFill>
                        <a:srgbClr val="C8C7C3"/>
                      </a:solidFill>
                      <a:prstDash val="solid"/>
                      <a:round/>
                      <a:headEnd type="none" w="med" len="med"/>
                      <a:tailEnd type="none" w="med" len="med"/>
                    </a:lnL>
                    <a:lnR w="12700" cap="flat" cmpd="sng" algn="ctr">
                      <a:solidFill>
                        <a:srgbClr val="C8C7C3"/>
                      </a:solidFill>
                      <a:prstDash val="solid"/>
                      <a:round/>
                      <a:headEnd type="none" w="med" len="med"/>
                      <a:tailEnd type="none" w="med" len="med"/>
                    </a:lnR>
                    <a:lnT w="12700" cap="flat" cmpd="sng" algn="ctr">
                      <a:solidFill>
                        <a:srgbClr val="C8C7C3"/>
                      </a:solidFill>
                      <a:prstDash val="solid"/>
                      <a:round/>
                      <a:headEnd type="none" w="med" len="med"/>
                      <a:tailEnd type="none" w="med" len="med"/>
                    </a:lnT>
                    <a:lnB w="12700" cap="flat" cmpd="sng" algn="ctr">
                      <a:solidFill>
                        <a:srgbClr val="C8C7C3"/>
                      </a:solidFill>
                      <a:prstDash val="solid"/>
                      <a:round/>
                      <a:headEnd type="none" w="med" len="med"/>
                      <a:tailEnd type="none" w="med" len="med"/>
                    </a:lnB>
                  </a:tcPr>
                </a:tc>
              </a:tr>
            </a:tbl>
          </a:graphicData>
        </a:graphic>
      </p:graphicFrame>
      <p:sp>
        <p:nvSpPr>
          <p:cNvPr id="5" name="Text 2"/>
          <p:cNvSpPr/>
          <p:nvPr/>
        </p:nvSpPr>
        <p:spPr>
          <a:xfrm>
            <a:off x="812800" y="4561839"/>
            <a:ext cx="10883392"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E7A3C"/>
                </a:solidFill>
                <a:latin typeface="IBM Plex Sans" pitchFamily="34" charset="0"/>
                <a:ea typeface="IBM Plex Sans" pitchFamily="34" charset="-122"/>
                <a:cs typeface="IBM Plex Sans" pitchFamily="34" charset="-120"/>
              </a:rPr>
              <a:t>Green</a:t>
            </a:r>
            <a:r>
              <a:rPr lang="en-US" sz="1400" dirty="0">
                <a:solidFill>
                  <a:srgbClr val="3F4B5A"/>
                </a:solidFill>
                <a:latin typeface="IBM Plex Sans" pitchFamily="34" charset="0"/>
                <a:ea typeface="IBM Plex Sans" pitchFamily="34" charset="-122"/>
                <a:cs typeface="IBM Plex Sans" pitchFamily="34" charset="-120"/>
              </a:rPr>
              <a:t> = same as this project · </a:t>
            </a:r>
            <a:r>
              <a:rPr lang="en-US" sz="1400" b="1" dirty="0">
                <a:solidFill>
                  <a:srgbClr val="B42318"/>
                </a:solidFill>
                <a:latin typeface="IBM Plex Sans" pitchFamily="34" charset="0"/>
                <a:ea typeface="IBM Plex Sans" pitchFamily="34" charset="-122"/>
                <a:cs typeface="IBM Plex Sans" pitchFamily="34" charset="-120"/>
              </a:rPr>
              <a:t>Red</a:t>
            </a:r>
            <a:r>
              <a:rPr lang="en-US" sz="1400" dirty="0">
                <a:solidFill>
                  <a:srgbClr val="3F4B5A"/>
                </a:solidFill>
                <a:latin typeface="IBM Plex Sans" pitchFamily="34" charset="0"/>
                <a:ea typeface="IBM Plex Sans" pitchFamily="34" charset="-122"/>
                <a:cs typeface="IBM Plex Sans" pitchFamily="34" charset="-120"/>
              </a:rPr>
              <a:t> = different. Mine is smaller and simpler (10 regions, not countries or ships), but it is the only one that follows a closure from the strait all the way to lost output.</a:t>
            </a:r>
            <a:endParaRPr lang="en-US" sz="1400" dirty="0"/>
          </a:p>
        </p:txBody>
      </p:sp>
      <p:sp>
        <p:nvSpPr>
          <p:cNvPr id="6" name="Text 3"/>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An et al. (2026) Mathematics · Devetak et al. (2026) arXiv · Sharma &amp; Lau (2026) arXiv · Hinz et al. (2026) Kiel · 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THE MODEL</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Three networks, run once per simulated day</a:t>
            </a:r>
            <a:endParaRPr lang="en-US" sz="3200" dirty="0"/>
          </a:p>
        </p:txBody>
      </p:sp>
      <p:sp>
        <p:nvSpPr>
          <p:cNvPr id="4" name="Shape 2"/>
          <p:cNvSpPr/>
          <p:nvPr/>
        </p:nvSpPr>
        <p:spPr>
          <a:xfrm>
            <a:off x="819150" y="1860550"/>
            <a:ext cx="2899833" cy="1621790"/>
          </a:xfrm>
          <a:prstGeom prst="roundRect">
            <a:avLst>
              <a:gd name="adj" fmla="val 5873"/>
            </a:avLst>
          </a:prstGeom>
          <a:solidFill>
            <a:srgbClr val="E3ECF6"/>
          </a:solidFill>
          <a:ln w="12700">
            <a:solidFill>
              <a:srgbClr val="2B6CB0"/>
            </a:solidFill>
            <a:prstDash val="solid"/>
          </a:ln>
        </p:spPr>
      </p:sp>
      <p:sp>
        <p:nvSpPr>
          <p:cNvPr id="5" name="Text 3"/>
          <p:cNvSpPr/>
          <p:nvPr/>
        </p:nvSpPr>
        <p:spPr>
          <a:xfrm>
            <a:off x="1079500" y="2120900"/>
            <a:ext cx="2450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53A"/>
                </a:solidFill>
                <a:latin typeface="Source Serif 4" pitchFamily="18" charset="0"/>
                <a:ea typeface="Source Serif 4" pitchFamily="18" charset="-122"/>
                <a:cs typeface="Source Serif 4" pitchFamily="18" charset="-120"/>
              </a:rPr>
              <a:t>1 · Routing</a:t>
            </a:r>
            <a:endParaRPr lang="en-US" sz="2000" dirty="0"/>
          </a:p>
        </p:txBody>
      </p:sp>
      <p:sp>
        <p:nvSpPr>
          <p:cNvPr id="6" name="Text 4"/>
          <p:cNvSpPr/>
          <p:nvPr/>
        </p:nvSpPr>
        <p:spPr>
          <a:xfrm>
            <a:off x="1079500" y="2501900"/>
            <a:ext cx="2450507"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B5A"/>
                </a:solidFill>
                <a:latin typeface="IBM Plex Sans" pitchFamily="34" charset="0"/>
                <a:ea typeface="IBM Plex Sans" pitchFamily="34" charset="-122"/>
                <a:cs typeface="IBM Plex Sans" pitchFamily="34" charset="-120"/>
              </a:rPr>
              <a:t>Where does the oil go? Routes, straits and pipelines, each with a limit</a:t>
            </a:r>
            <a:endParaRPr lang="en-US" sz="1400" dirty="0"/>
          </a:p>
        </p:txBody>
      </p:sp>
      <p:sp>
        <p:nvSpPr>
          <p:cNvPr id="7" name="Text 5"/>
          <p:cNvSpPr/>
          <p:nvPr/>
        </p:nvSpPr>
        <p:spPr>
          <a:xfrm>
            <a:off x="3842046" y="2386964"/>
            <a:ext cx="680974"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53A"/>
                </a:solidFill>
                <a:latin typeface="IBM Plex Sans" pitchFamily="34" charset="0"/>
                <a:ea typeface="IBM Plex Sans" pitchFamily="34" charset="-122"/>
                <a:cs typeface="IBM Plex Sans" pitchFamily="34" charset="-120"/>
              </a:rPr>
              <a:t>shortfall</a:t>
            </a:r>
            <a:endParaRPr lang="en-US" sz="1200" dirty="0"/>
          </a:p>
        </p:txBody>
      </p:sp>
      <p:pic>
        <p:nvPicPr>
          <p:cNvPr id="8" name="Image 0" descr="arrow-right">    </p:cNvPr>
          <p:cNvPicPr>
            <a:picLocks noChangeAspect="1"/>
          </p:cNvPicPr>
          <p:nvPr/>
        </p:nvPicPr>
        <p:blipFill>
          <a:blip r:embed="rId1"/>
          <a:srcRect l="0" r="0" t="0" b="0"/>
          <a:stretch/>
        </p:blipFill>
        <p:spPr>
          <a:xfrm>
            <a:off x="3877733" y="2651125"/>
            <a:ext cx="609600" cy="304800"/>
          </a:xfrm>
          <a:prstGeom prst="rect">
            <a:avLst/>
          </a:prstGeom>
        </p:spPr>
      </p:pic>
      <p:sp>
        <p:nvSpPr>
          <p:cNvPr id="9" name="Shape 6"/>
          <p:cNvSpPr/>
          <p:nvPr/>
        </p:nvSpPr>
        <p:spPr>
          <a:xfrm>
            <a:off x="4646083" y="1860550"/>
            <a:ext cx="2899833" cy="1621790"/>
          </a:xfrm>
          <a:prstGeom prst="roundRect">
            <a:avLst>
              <a:gd name="adj" fmla="val 5873"/>
            </a:avLst>
          </a:prstGeom>
          <a:solidFill>
            <a:srgbClr val="F6E6CB"/>
          </a:solidFill>
          <a:ln w="12700">
            <a:solidFill>
              <a:srgbClr val="96560A"/>
            </a:solidFill>
            <a:prstDash val="solid"/>
          </a:ln>
        </p:spPr>
      </p:sp>
      <p:sp>
        <p:nvSpPr>
          <p:cNvPr id="10" name="Text 7"/>
          <p:cNvSpPr/>
          <p:nvPr/>
        </p:nvSpPr>
        <p:spPr>
          <a:xfrm>
            <a:off x="4906433" y="2120900"/>
            <a:ext cx="2450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53A"/>
                </a:solidFill>
                <a:latin typeface="Source Serif 4" pitchFamily="18" charset="0"/>
                <a:ea typeface="Source Serif 4" pitchFamily="18" charset="-122"/>
                <a:cs typeface="Source Serif 4" pitchFamily="18" charset="-120"/>
              </a:rPr>
              <a:t>2 · Market</a:t>
            </a:r>
            <a:endParaRPr lang="en-US" sz="2000" dirty="0"/>
          </a:p>
        </p:txBody>
      </p:sp>
      <p:sp>
        <p:nvSpPr>
          <p:cNvPr id="11" name="Text 8"/>
          <p:cNvSpPr/>
          <p:nvPr/>
        </p:nvSpPr>
        <p:spPr>
          <a:xfrm>
            <a:off x="4906433" y="2501900"/>
            <a:ext cx="2450507"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B5A"/>
                </a:solidFill>
                <a:latin typeface="IBM Plex Sans" pitchFamily="34" charset="0"/>
                <a:ea typeface="IBM Plex Sans" pitchFamily="34" charset="-122"/>
                <a:cs typeface="IBM Plex Sans" pitchFamily="34" charset="-120"/>
              </a:rPr>
              <a:t>Each region uses its own reserve, then one world price is set</a:t>
            </a:r>
            <a:endParaRPr lang="en-US" sz="1400" dirty="0"/>
          </a:p>
        </p:txBody>
      </p:sp>
      <p:sp>
        <p:nvSpPr>
          <p:cNvPr id="12" name="Text 9"/>
          <p:cNvSpPr/>
          <p:nvPr/>
        </p:nvSpPr>
        <p:spPr>
          <a:xfrm>
            <a:off x="7660343" y="2386964"/>
            <a:ext cx="698246" cy="23876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13253A"/>
                </a:solidFill>
                <a:latin typeface="IBM Plex Sans" pitchFamily="34" charset="0"/>
                <a:ea typeface="IBM Plex Sans" pitchFamily="34" charset="-122"/>
                <a:cs typeface="IBM Plex Sans" pitchFamily="34" charset="-120"/>
              </a:rPr>
              <a:t>oil share</a:t>
            </a:r>
            <a:endParaRPr lang="en-US" sz="1200" dirty="0"/>
          </a:p>
        </p:txBody>
      </p:sp>
      <p:pic>
        <p:nvPicPr>
          <p:cNvPr id="13" name="Image 1" descr="arrow-right">    </p:cNvPr>
          <p:cNvPicPr>
            <a:picLocks noChangeAspect="1"/>
          </p:cNvPicPr>
          <p:nvPr/>
        </p:nvPicPr>
        <p:blipFill>
          <a:blip r:embed="rId2"/>
          <a:srcRect l="0" r="0" t="0" b="0"/>
          <a:stretch/>
        </p:blipFill>
        <p:spPr>
          <a:xfrm>
            <a:off x="7704667" y="2651125"/>
            <a:ext cx="609600" cy="304800"/>
          </a:xfrm>
          <a:prstGeom prst="rect">
            <a:avLst/>
          </a:prstGeom>
        </p:spPr>
      </p:pic>
      <p:sp>
        <p:nvSpPr>
          <p:cNvPr id="14" name="Shape 10"/>
          <p:cNvSpPr/>
          <p:nvPr/>
        </p:nvSpPr>
        <p:spPr>
          <a:xfrm>
            <a:off x="8473017" y="1860550"/>
            <a:ext cx="2899833" cy="1621790"/>
          </a:xfrm>
          <a:prstGeom prst="roundRect">
            <a:avLst>
              <a:gd name="adj" fmla="val 5873"/>
            </a:avLst>
          </a:prstGeom>
          <a:solidFill>
            <a:srgbClr val="F6DCDC"/>
          </a:solidFill>
          <a:ln w="12700">
            <a:solidFill>
              <a:srgbClr val="C1272D"/>
            </a:solidFill>
            <a:prstDash val="solid"/>
          </a:ln>
        </p:spPr>
      </p:sp>
      <p:sp>
        <p:nvSpPr>
          <p:cNvPr id="15" name="Text 11"/>
          <p:cNvSpPr/>
          <p:nvPr/>
        </p:nvSpPr>
        <p:spPr>
          <a:xfrm>
            <a:off x="8733367" y="2120900"/>
            <a:ext cx="245050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53A"/>
                </a:solidFill>
                <a:latin typeface="Source Serif 4" pitchFamily="18" charset="0"/>
                <a:ea typeface="Source Serif 4" pitchFamily="18" charset="-122"/>
                <a:cs typeface="Source Serif 4" pitchFamily="18" charset="-120"/>
              </a:rPr>
              <a:t>3 · Production</a:t>
            </a:r>
            <a:endParaRPr lang="en-US" sz="2000" dirty="0"/>
          </a:p>
        </p:txBody>
      </p:sp>
      <p:sp>
        <p:nvSpPr>
          <p:cNvPr id="16" name="Text 12"/>
          <p:cNvSpPr/>
          <p:nvPr/>
        </p:nvSpPr>
        <p:spPr>
          <a:xfrm>
            <a:off x="8733367" y="2501900"/>
            <a:ext cx="2450507"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B5A"/>
                </a:solidFill>
                <a:latin typeface="IBM Plex Sans" pitchFamily="34" charset="0"/>
                <a:ea typeface="IBM Plex Sans" pitchFamily="34" charset="-122"/>
                <a:cs typeface="IBM Plex Sans" pitchFamily="34" charset="-120"/>
              </a:rPr>
              <a:t>Five industries in each region; a shortage spreads like dominoes</a:t>
            </a:r>
            <a:endParaRPr lang="en-US" sz="1400" dirty="0"/>
          </a:p>
        </p:txBody>
      </p:sp>
      <p:sp>
        <p:nvSpPr>
          <p:cNvPr id="17" name="Text 13"/>
          <p:cNvSpPr/>
          <p:nvPr/>
        </p:nvSpPr>
        <p:spPr>
          <a:xfrm>
            <a:off x="812800" y="3793489"/>
            <a:ext cx="531088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3F4B5A"/>
                </a:solidFill>
                <a:latin typeface="IBM Plex Sans" pitchFamily="34" charset="0"/>
                <a:ea typeface="IBM Plex Sans" pitchFamily="34" charset="-122"/>
                <a:cs typeface="IBM Plex Sans" pitchFamily="34" charset="-120"/>
              </a:rPr>
              <a:t>Main model:</a:t>
            </a:r>
            <a:r>
              <a:rPr lang="en-US" sz="1400" dirty="0">
                <a:solidFill>
                  <a:srgbClr val="3F4B5A"/>
                </a:solidFill>
                <a:latin typeface="IBM Plex Sans" pitchFamily="34" charset="0"/>
                <a:ea typeface="IBM Plex Sans" pitchFamily="34" charset="-122"/>
                <a:cs typeface="IBM Plex Sans" pitchFamily="34" charset="-120"/>
              </a:rPr>
              <a:t> information flows one way, left to right.</a:t>
            </a:r>
            <a:endParaRPr lang="en-US" sz="1400" dirty="0"/>
          </a:p>
        </p:txBody>
      </p:sp>
      <p:sp>
        <p:nvSpPr>
          <p:cNvPr id="18" name="Text 14"/>
          <p:cNvSpPr/>
          <p:nvPr/>
        </p:nvSpPr>
        <p:spPr>
          <a:xfrm>
            <a:off x="6223000" y="3793489"/>
            <a:ext cx="531088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5B3A8C"/>
                </a:solidFill>
                <a:latin typeface="IBM Plex Sans" pitchFamily="34" charset="0"/>
                <a:ea typeface="IBM Plex Sans" pitchFamily="34" charset="-122"/>
                <a:cs typeface="IBM Plex Sans" pitchFamily="34" charset="-120"/>
              </a:rPr>
              <a:t>Extension:</a:t>
            </a:r>
            <a:r>
              <a:rPr lang="en-US" sz="1400" dirty="0">
                <a:solidFill>
                  <a:srgbClr val="5B3A8C"/>
                </a:solidFill>
                <a:latin typeface="IBM Plex Sans" pitchFamily="34" charset="0"/>
                <a:ea typeface="IBM Plex Sans" pitchFamily="34" charset="-122"/>
                <a:cs typeface="IBM Plex Sans" pitchFamily="34" charset="-120"/>
              </a:rPr>
              <a:t> the price loops back — high prices make regions buy less, and that oil is re-routed.</a:t>
            </a:r>
            <a:endParaRPr lang="en-US" sz="1400" dirty="0"/>
          </a:p>
        </p:txBody>
      </p:sp>
      <p:sp>
        <p:nvSpPr>
          <p:cNvPr id="19" name="Text 15"/>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CITS4403 · 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9F5"/>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LAYER 1 · THE NETWORK</a:t>
            </a:r>
            <a:endParaRPr lang="en-US" sz="1200" dirty="0"/>
          </a:p>
        </p:txBody>
      </p:sp>
      <p:sp>
        <p:nvSpPr>
          <p:cNvPr id="3" name="Text 1"/>
          <p:cNvSpPr/>
          <p:nvPr>
            <p:ph type="title"/>
          </p:nvPr>
        </p:nvSpPr>
        <p:spPr>
          <a:xfrm>
            <a:off x="812800" y="8737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53A"/>
                </a:solidFill>
                <a:latin typeface="Source Serif 4" pitchFamily="18" charset="0"/>
                <a:ea typeface="Source Serif 4" pitchFamily="18" charset="-122"/>
                <a:cs typeface="Source Serif 4" pitchFamily="18" charset="-120"/>
              </a:rPr>
              <a:t>The world's oil trade as a network</a:t>
            </a:r>
            <a:endParaRPr lang="en-US" sz="2800" dirty="0"/>
          </a:p>
        </p:txBody>
      </p:sp>
      <p:sp>
        <p:nvSpPr>
          <p:cNvPr id="4" name="Shape 2"/>
          <p:cNvSpPr/>
          <p:nvPr/>
        </p:nvSpPr>
        <p:spPr>
          <a:xfrm>
            <a:off x="812800" y="1417321"/>
            <a:ext cx="8070850" cy="4635500"/>
          </a:xfrm>
          <a:prstGeom prst="roundRect">
            <a:avLst>
              <a:gd name="adj" fmla="val 1644"/>
            </a:avLst>
          </a:prstGeom>
          <a:solidFill>
            <a:srgbClr val="F5F2EC"/>
          </a:solidFill>
          <a:ln/>
        </p:spPr>
      </p:sp>
      <p:pic>
        <p:nvPicPr>
          <p:cNvPr id="5" name="Image 0" descr="Route network with Hormuz open: every region fully supplied, Hormuz carrying 17.6 mb/d and Malacca 21.8 mb/d">    </p:cNvPr>
          <p:cNvPicPr>
            <a:picLocks noChangeAspect="1"/>
          </p:cNvPicPr>
          <p:nvPr/>
        </p:nvPicPr>
        <p:blipFill>
          <a:blip r:embed="rId1"/>
          <a:srcRect l="0" r="0" t="-2" b="-2"/>
          <a:stretch/>
        </p:blipFill>
        <p:spPr>
          <a:xfrm>
            <a:off x="812800" y="1417321"/>
            <a:ext cx="8070850" cy="4635500"/>
          </a:xfrm>
          <a:prstGeom prst="roundRect">
            <a:avLst>
              <a:gd name="adj" fmla="val 1644"/>
            </a:avLst>
          </a:prstGeom>
        </p:spPr>
      </p:pic>
      <p:sp>
        <p:nvSpPr>
          <p:cNvPr id="6" name="Text 3"/>
          <p:cNvSpPr/>
          <p:nvPr/>
        </p:nvSpPr>
        <p:spPr>
          <a:xfrm>
            <a:off x="9137650" y="1417321"/>
            <a:ext cx="2308796"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1E7A3C"/>
                </a:solidFill>
                <a:latin typeface="Source Serif 4" pitchFamily="18" charset="0"/>
                <a:ea typeface="Source Serif 4" pitchFamily="18" charset="-122"/>
                <a:cs typeface="Source Serif 4" pitchFamily="18" charset="-120"/>
              </a:rPr>
              <a:t>0%</a:t>
            </a:r>
            <a:endParaRPr lang="en-US" sz="4000" dirty="0"/>
          </a:p>
        </p:txBody>
      </p:sp>
      <p:sp>
        <p:nvSpPr>
          <p:cNvPr id="7" name="Text 4"/>
          <p:cNvSpPr/>
          <p:nvPr/>
        </p:nvSpPr>
        <p:spPr>
          <a:xfrm>
            <a:off x="9137650" y="2052321"/>
            <a:ext cx="230879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6672"/>
                </a:solidFill>
                <a:latin typeface="IBM Plex Sans" pitchFamily="34" charset="0"/>
                <a:ea typeface="IBM Plex Sans" pitchFamily="34" charset="-122"/>
                <a:cs typeface="IBM Plex Sans" pitchFamily="34" charset="-120"/>
              </a:rPr>
              <a:t>of Hormuz closed</a:t>
            </a:r>
            <a:endParaRPr lang="en-US" sz="1300" dirty="0"/>
          </a:p>
        </p:txBody>
      </p:sp>
      <p:sp>
        <p:nvSpPr>
          <p:cNvPr id="8" name="Text 5"/>
          <p:cNvSpPr/>
          <p:nvPr/>
        </p:nvSpPr>
        <p:spPr>
          <a:xfrm>
            <a:off x="9137650" y="2393950"/>
            <a:ext cx="2308796"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53A"/>
                </a:solidFill>
                <a:latin typeface="IBM Plex Sans" pitchFamily="34" charset="0"/>
                <a:ea typeface="IBM Plex Sans" pitchFamily="34" charset="-122"/>
                <a:cs typeface="IBM Plex Sans" pitchFamily="34" charset="-120"/>
              </a:rPr>
              <a:t>10</a:t>
            </a:r>
            <a:r>
              <a:rPr lang="en-US" sz="1400" dirty="0">
                <a:solidFill>
                  <a:srgbClr val="3F4B5A"/>
                </a:solidFill>
                <a:latin typeface="IBM Plex Sans" pitchFamily="34" charset="0"/>
                <a:ea typeface="IBM Plex Sans" pitchFamily="34" charset="-122"/>
                <a:cs typeface="IBM Plex Sans" pitchFamily="34" charset="-120"/>
              </a:rPr>
              <a:t> regions</a:t>
            </a:r>
            <a:endParaRPr lang="en-US" sz="1400" dirty="0"/>
          </a:p>
        </p:txBody>
      </p:sp>
      <p:sp>
        <p:nvSpPr>
          <p:cNvPr id="9" name="Text 6"/>
          <p:cNvSpPr/>
          <p:nvPr/>
        </p:nvSpPr>
        <p:spPr>
          <a:xfrm>
            <a:off x="9137650" y="2760979"/>
            <a:ext cx="2308796"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53A"/>
                </a:solidFill>
                <a:latin typeface="IBM Plex Sans" pitchFamily="34" charset="0"/>
                <a:ea typeface="IBM Plex Sans" pitchFamily="34" charset="-122"/>
                <a:cs typeface="IBM Plex Sans" pitchFamily="34" charset="-120"/>
              </a:rPr>
              <a:t>11</a:t>
            </a:r>
            <a:r>
              <a:rPr lang="en-US" sz="1400" dirty="0">
                <a:solidFill>
                  <a:srgbClr val="3F4B5A"/>
                </a:solidFill>
                <a:latin typeface="IBM Plex Sans" pitchFamily="34" charset="0"/>
                <a:ea typeface="IBM Plex Sans" pitchFamily="34" charset="-122"/>
                <a:cs typeface="IBM Plex Sans" pitchFamily="34" charset="-120"/>
              </a:rPr>
              <a:t> producers (6 export)</a:t>
            </a:r>
            <a:endParaRPr lang="en-US" sz="1400" dirty="0"/>
          </a:p>
        </p:txBody>
      </p:sp>
      <p:sp>
        <p:nvSpPr>
          <p:cNvPr id="10" name="Text 7"/>
          <p:cNvSpPr/>
          <p:nvPr/>
        </p:nvSpPr>
        <p:spPr>
          <a:xfrm>
            <a:off x="9137650" y="3128011"/>
            <a:ext cx="2308796"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53A"/>
                </a:solidFill>
                <a:latin typeface="IBM Plex Sans" pitchFamily="34" charset="0"/>
                <a:ea typeface="IBM Plex Sans" pitchFamily="34" charset="-122"/>
                <a:cs typeface="IBM Plex Sans" pitchFamily="34" charset="-120"/>
              </a:rPr>
              <a:t>8</a:t>
            </a:r>
            <a:r>
              <a:rPr lang="en-US" sz="1400" dirty="0">
                <a:solidFill>
                  <a:srgbClr val="3F4B5A"/>
                </a:solidFill>
                <a:latin typeface="IBM Plex Sans" pitchFamily="34" charset="0"/>
                <a:ea typeface="IBM Plex Sans" pitchFamily="34" charset="-122"/>
                <a:cs typeface="IBM Plex Sans" pitchFamily="34" charset="-120"/>
              </a:rPr>
              <a:t> chokepoints</a:t>
            </a:r>
            <a:endParaRPr lang="en-US" sz="1400" dirty="0"/>
          </a:p>
        </p:txBody>
      </p:sp>
      <p:sp>
        <p:nvSpPr>
          <p:cNvPr id="11" name="Text 8"/>
          <p:cNvSpPr/>
          <p:nvPr/>
        </p:nvSpPr>
        <p:spPr>
          <a:xfrm>
            <a:off x="9137650" y="3495039"/>
            <a:ext cx="2308796"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3253A"/>
                </a:solidFill>
                <a:latin typeface="IBM Plex Sans" pitchFamily="34" charset="0"/>
                <a:ea typeface="IBM Plex Sans" pitchFamily="34" charset="-122"/>
                <a:cs typeface="IBM Plex Sans" pitchFamily="34" charset="-120"/>
              </a:rPr>
              <a:t>37</a:t>
            </a:r>
            <a:r>
              <a:rPr lang="en-US" sz="1400" dirty="0">
                <a:solidFill>
                  <a:srgbClr val="3F4B5A"/>
                </a:solidFill>
                <a:latin typeface="IBM Plex Sans" pitchFamily="34" charset="0"/>
                <a:ea typeface="IBM Plex Sans" pitchFamily="34" charset="-122"/>
                <a:cs typeface="IBM Plex Sans" pitchFamily="34" charset="-120"/>
              </a:rPr>
              <a:t> routes</a:t>
            </a:r>
            <a:endParaRPr lang="en-US" sz="1400" dirty="0"/>
          </a:p>
        </p:txBody>
      </p:sp>
      <p:sp>
        <p:nvSpPr>
          <p:cNvPr id="12" name="Text 9"/>
          <p:cNvSpPr/>
          <p:nvPr/>
        </p:nvSpPr>
        <p:spPr>
          <a:xfrm>
            <a:off x="9137650" y="3862071"/>
            <a:ext cx="2689860"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B5A"/>
                </a:solidFill>
                <a:latin typeface="IBM Plex Sans" pitchFamily="34" charset="0"/>
                <a:ea typeface="IBM Plex Sans" pitchFamily="34" charset="-122"/>
                <a:cs typeface="IBM Plex Sans" pitchFamily="34" charset="-120"/>
              </a:rPr>
              <a:t>Every region 100% supplied</a:t>
            </a:r>
            <a:endParaRPr lang="en-US" sz="1400" dirty="0"/>
          </a:p>
        </p:txBody>
      </p:sp>
      <p:sp>
        <p:nvSpPr>
          <p:cNvPr id="13" name="Text 10"/>
          <p:cNvSpPr/>
          <p:nvPr/>
        </p:nvSpPr>
        <p:spPr>
          <a:xfrm>
            <a:off x="812800" y="63398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Line width = oil flow (mb/d) · Data: EIA, Energy Institute · CITS4403 · 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HOW ONE DAY WORKS</a:t>
            </a:r>
            <a:endParaRPr lang="en-US" sz="1200" dirty="0"/>
          </a:p>
        </p:txBody>
      </p:sp>
      <p:sp>
        <p:nvSpPr>
          <p:cNvPr id="3" name="Text 1"/>
          <p:cNvSpPr/>
          <p:nvPr>
            <p:ph type="title"/>
          </p:nvPr>
        </p:nvSpPr>
        <p:spPr>
          <a:xfrm>
            <a:off x="812800" y="1102361"/>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Simple rules, applied every day</a:t>
            </a:r>
            <a:endParaRPr lang="en-US" sz="3200" dirty="0"/>
          </a:p>
        </p:txBody>
      </p:sp>
      <p:sp>
        <p:nvSpPr>
          <p:cNvPr id="4" name="Shape 2"/>
          <p:cNvSpPr/>
          <p:nvPr/>
        </p:nvSpPr>
        <p:spPr>
          <a:xfrm>
            <a:off x="812800" y="1803400"/>
            <a:ext cx="3386667" cy="2369820"/>
          </a:xfrm>
          <a:prstGeom prst="roundRect">
            <a:avLst>
              <a:gd name="adj" fmla="val 3215"/>
            </a:avLst>
          </a:prstGeom>
          <a:solidFill>
            <a:srgbClr val="FBF9F5"/>
          </a:solidFill>
          <a:ln/>
        </p:spPr>
      </p:sp>
      <p:sp>
        <p:nvSpPr>
          <p:cNvPr id="5" name="Shape 3"/>
          <p:cNvSpPr/>
          <p:nvPr/>
        </p:nvSpPr>
        <p:spPr>
          <a:xfrm>
            <a:off x="812800" y="1803400"/>
            <a:ext cx="3386667" cy="2369820"/>
          </a:xfrm>
          <a:custGeom>
            <a:avLst/>
            <a:gdLst/>
            <a:ahLst/>
            <a:cxnLst/>
            <a:rect l="l" t="t" r="r" b="b"/>
            <a:pathLst>
              <a:path w="3386667" h="2369820">
                <a:moveTo>
                  <a:pt x="0" y="76200"/>
                </a:moveTo>
                <a:lnTo>
                  <a:pt x="0" y="76200"/>
                </a:lnTo>
                <a:arcTo hR="76200" wR="76200" stAng="10800000" swAng="5400000"/>
                <a:lnTo>
                  <a:pt x="3310467" y="0"/>
                </a:lnTo>
                <a:arcTo hR="76200" wR="76200" stAng="16200000" swAng="5400000"/>
                <a:lnTo>
                  <a:pt x="3386667" y="76200"/>
                </a:lnTo>
                <a:arcTo hR="38100" wR="76200" stAng="0" swAng="-5400000"/>
                <a:lnTo>
                  <a:pt x="76200" y="38100"/>
                </a:lnTo>
                <a:arcTo hR="38100" wR="76200" stAng="16200000" swAng="-5400000"/>
                <a:close/>
              </a:path>
            </a:pathLst>
          </a:custGeom>
          <a:solidFill>
            <a:srgbClr val="2B6CB0"/>
          </a:solidFill>
          <a:ln/>
        </p:spPr>
      </p:sp>
      <p:sp>
        <p:nvSpPr>
          <p:cNvPr id="6" name="Text 4"/>
          <p:cNvSpPr/>
          <p:nvPr/>
        </p:nvSpPr>
        <p:spPr>
          <a:xfrm>
            <a:off x="1066800" y="2095500"/>
            <a:ext cx="296502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53A"/>
                </a:solidFill>
                <a:latin typeface="Source Serif 4" pitchFamily="18" charset="0"/>
                <a:ea typeface="Source Serif 4" pitchFamily="18" charset="-122"/>
                <a:cs typeface="Source Serif 4" pitchFamily="18" charset="-120"/>
              </a:rPr>
              <a:t>Routing</a:t>
            </a:r>
            <a:endParaRPr lang="en-US" sz="1800" dirty="0"/>
          </a:p>
        </p:txBody>
      </p:sp>
      <p:sp>
        <p:nvSpPr>
          <p:cNvPr id="7" name="Text 5"/>
          <p:cNvSpPr/>
          <p:nvPr/>
        </p:nvSpPr>
        <p:spPr>
          <a:xfrm>
            <a:off x="1066800" y="2471421"/>
            <a:ext cx="2965027"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1. Use your own oil first</a:t>
            </a:r>
            <a:endParaRPr lang="en-US" sz="1400" dirty="0"/>
          </a:p>
        </p:txBody>
      </p:sp>
      <p:sp>
        <p:nvSpPr>
          <p:cNvPr id="8" name="Text 6"/>
          <p:cNvSpPr/>
          <p:nvPr/>
        </p:nvSpPr>
        <p:spPr>
          <a:xfrm>
            <a:off x="1066800" y="2821939"/>
            <a:ext cx="296502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2. Contract cargoes take the fastest open route</a:t>
            </a:r>
            <a:endParaRPr lang="en-US" sz="1400" dirty="0"/>
          </a:p>
        </p:txBody>
      </p:sp>
      <p:sp>
        <p:nvSpPr>
          <p:cNvPr id="9" name="Text 7"/>
          <p:cNvSpPr/>
          <p:nvPr/>
        </p:nvSpPr>
        <p:spPr>
          <a:xfrm>
            <a:off x="1066800" y="3421379"/>
            <a:ext cx="296502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3. Spot cargoes go to the most desperate buyer</a:t>
            </a:r>
            <a:endParaRPr lang="en-US" sz="1400" dirty="0"/>
          </a:p>
        </p:txBody>
      </p:sp>
      <p:sp>
        <p:nvSpPr>
          <p:cNvPr id="10" name="Shape 8"/>
          <p:cNvSpPr/>
          <p:nvPr/>
        </p:nvSpPr>
        <p:spPr>
          <a:xfrm>
            <a:off x="4402667" y="1803400"/>
            <a:ext cx="3386667" cy="2369820"/>
          </a:xfrm>
          <a:prstGeom prst="roundRect">
            <a:avLst>
              <a:gd name="adj" fmla="val 3215"/>
            </a:avLst>
          </a:prstGeom>
          <a:solidFill>
            <a:srgbClr val="FBF9F5"/>
          </a:solidFill>
          <a:ln/>
        </p:spPr>
      </p:sp>
      <p:sp>
        <p:nvSpPr>
          <p:cNvPr id="11" name="Shape 9"/>
          <p:cNvSpPr/>
          <p:nvPr/>
        </p:nvSpPr>
        <p:spPr>
          <a:xfrm>
            <a:off x="4402667" y="1803400"/>
            <a:ext cx="3386667" cy="2369820"/>
          </a:xfrm>
          <a:custGeom>
            <a:avLst/>
            <a:gdLst/>
            <a:ahLst/>
            <a:cxnLst/>
            <a:rect l="l" t="t" r="r" b="b"/>
            <a:pathLst>
              <a:path w="3386667" h="2369820">
                <a:moveTo>
                  <a:pt x="0" y="76200"/>
                </a:moveTo>
                <a:lnTo>
                  <a:pt x="0" y="76200"/>
                </a:lnTo>
                <a:arcTo hR="76200" wR="76200" stAng="10800000" swAng="5400000"/>
                <a:lnTo>
                  <a:pt x="3310467" y="0"/>
                </a:lnTo>
                <a:arcTo hR="76200" wR="76200" stAng="16200000" swAng="5400000"/>
                <a:lnTo>
                  <a:pt x="3386667" y="76200"/>
                </a:lnTo>
                <a:arcTo hR="38100" wR="76200" stAng="0" swAng="-5400000"/>
                <a:lnTo>
                  <a:pt x="76200" y="38100"/>
                </a:lnTo>
                <a:arcTo hR="38100" wR="76200" stAng="16200000" swAng="-5400000"/>
                <a:close/>
              </a:path>
            </a:pathLst>
          </a:custGeom>
          <a:solidFill>
            <a:srgbClr val="96560A"/>
          </a:solidFill>
          <a:ln/>
        </p:spPr>
      </p:sp>
      <p:sp>
        <p:nvSpPr>
          <p:cNvPr id="12" name="Text 10"/>
          <p:cNvSpPr/>
          <p:nvPr/>
        </p:nvSpPr>
        <p:spPr>
          <a:xfrm>
            <a:off x="4656667" y="2095500"/>
            <a:ext cx="296502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53A"/>
                </a:solidFill>
                <a:latin typeface="Source Serif 4" pitchFamily="18" charset="0"/>
                <a:ea typeface="Source Serif 4" pitchFamily="18" charset="-122"/>
                <a:cs typeface="Source Serif 4" pitchFamily="18" charset="-120"/>
              </a:rPr>
              <a:t>Market</a:t>
            </a:r>
            <a:endParaRPr lang="en-US" sz="1800" dirty="0"/>
          </a:p>
        </p:txBody>
      </p:sp>
      <p:sp>
        <p:nvSpPr>
          <p:cNvPr id="13" name="Text 11"/>
          <p:cNvSpPr/>
          <p:nvPr/>
        </p:nvSpPr>
        <p:spPr>
          <a:xfrm>
            <a:off x="4656667" y="2471421"/>
            <a:ext cx="296502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1. A short region draws its own reserve</a:t>
            </a:r>
            <a:endParaRPr lang="en-US" sz="1400" dirty="0"/>
          </a:p>
        </p:txBody>
      </p:sp>
      <p:sp>
        <p:nvSpPr>
          <p:cNvPr id="14" name="Text 12"/>
          <p:cNvSpPr/>
          <p:nvPr/>
        </p:nvSpPr>
        <p:spPr>
          <a:xfrm>
            <a:off x="4656667" y="3070861"/>
            <a:ext cx="296502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2. One price is set so that demand equals the oil available</a:t>
            </a:r>
            <a:endParaRPr lang="en-US" sz="1400" dirty="0"/>
          </a:p>
        </p:txBody>
      </p:sp>
      <p:sp>
        <p:nvSpPr>
          <p:cNvPr id="15" name="Shape 13"/>
          <p:cNvSpPr/>
          <p:nvPr/>
        </p:nvSpPr>
        <p:spPr>
          <a:xfrm>
            <a:off x="7992533" y="1803400"/>
            <a:ext cx="3386667" cy="2369820"/>
          </a:xfrm>
          <a:prstGeom prst="roundRect">
            <a:avLst>
              <a:gd name="adj" fmla="val 3215"/>
            </a:avLst>
          </a:prstGeom>
          <a:solidFill>
            <a:srgbClr val="FBF9F5"/>
          </a:solidFill>
          <a:ln/>
        </p:spPr>
      </p:sp>
      <p:sp>
        <p:nvSpPr>
          <p:cNvPr id="16" name="Shape 14"/>
          <p:cNvSpPr/>
          <p:nvPr/>
        </p:nvSpPr>
        <p:spPr>
          <a:xfrm>
            <a:off x="7992533" y="1803400"/>
            <a:ext cx="3386667" cy="2369820"/>
          </a:xfrm>
          <a:custGeom>
            <a:avLst/>
            <a:gdLst/>
            <a:ahLst/>
            <a:cxnLst/>
            <a:rect l="l" t="t" r="r" b="b"/>
            <a:pathLst>
              <a:path w="3386667" h="2369820">
                <a:moveTo>
                  <a:pt x="0" y="76200"/>
                </a:moveTo>
                <a:lnTo>
                  <a:pt x="0" y="76200"/>
                </a:lnTo>
                <a:arcTo hR="76200" wR="76200" stAng="10800000" swAng="5400000"/>
                <a:lnTo>
                  <a:pt x="3310467" y="0"/>
                </a:lnTo>
                <a:arcTo hR="76200" wR="76200" stAng="16200000" swAng="5400000"/>
                <a:lnTo>
                  <a:pt x="3386667" y="76200"/>
                </a:lnTo>
                <a:arcTo hR="38100" wR="76200" stAng="0" swAng="-5400000"/>
                <a:lnTo>
                  <a:pt x="76200" y="38100"/>
                </a:lnTo>
                <a:arcTo hR="38100" wR="76200" stAng="16200000" swAng="-5400000"/>
                <a:close/>
              </a:path>
            </a:pathLst>
          </a:custGeom>
          <a:solidFill>
            <a:srgbClr val="C1272D"/>
          </a:solidFill>
          <a:ln/>
        </p:spPr>
      </p:sp>
      <p:sp>
        <p:nvSpPr>
          <p:cNvPr id="17" name="Text 15"/>
          <p:cNvSpPr/>
          <p:nvPr/>
        </p:nvSpPr>
        <p:spPr>
          <a:xfrm>
            <a:off x="8246533" y="2095500"/>
            <a:ext cx="2965027" cy="299720"/>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3253A"/>
                </a:solidFill>
                <a:latin typeface="Source Serif 4" pitchFamily="18" charset="0"/>
                <a:ea typeface="Source Serif 4" pitchFamily="18" charset="-122"/>
                <a:cs typeface="Source Serif 4" pitchFamily="18" charset="-120"/>
              </a:rPr>
              <a:t>Production</a:t>
            </a:r>
            <a:endParaRPr lang="en-US" sz="1800" dirty="0"/>
          </a:p>
        </p:txBody>
      </p:sp>
      <p:sp>
        <p:nvSpPr>
          <p:cNvPr id="18" name="Text 16"/>
          <p:cNvSpPr/>
          <p:nvPr/>
        </p:nvSpPr>
        <p:spPr>
          <a:xfrm>
            <a:off x="8246533" y="2471421"/>
            <a:ext cx="2965027" cy="77216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1. Each industry is limited by its own oil or its suppliers, whichever is worse</a:t>
            </a:r>
            <a:endParaRPr lang="en-US" sz="1400" dirty="0"/>
          </a:p>
        </p:txBody>
      </p:sp>
      <p:sp>
        <p:nvSpPr>
          <p:cNvPr id="19" name="Text 17"/>
          <p:cNvSpPr/>
          <p:nvPr/>
        </p:nvSpPr>
        <p:spPr>
          <a:xfrm>
            <a:off x="8246533" y="3319779"/>
            <a:ext cx="2965027"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2. Below about 45% of inputs it shuts down</a:t>
            </a:r>
            <a:endParaRPr lang="en-US" sz="1400" dirty="0"/>
          </a:p>
        </p:txBody>
      </p:sp>
      <p:sp>
        <p:nvSpPr>
          <p:cNvPr id="20" name="Text 18"/>
          <p:cNvSpPr/>
          <p:nvPr/>
        </p:nvSpPr>
        <p:spPr>
          <a:xfrm>
            <a:off x="812800" y="4427221"/>
            <a:ext cx="10883392" cy="594360"/>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13253A"/>
                </a:solidFill>
                <a:latin typeface="IBM Plex Sans" pitchFamily="34" charset="0"/>
                <a:ea typeface="IBM Plex Sans" pitchFamily="34" charset="-122"/>
                <a:cs typeface="IBM Plex Sans" pitchFamily="34" charset="-120"/>
              </a:rPr>
              <a:t>Systemic</a:t>
            </a:r>
            <a:r>
              <a:rPr lang="en-US" sz="1600" dirty="0">
                <a:solidFill>
                  <a:srgbClr val="13253A"/>
                </a:solidFill>
                <a:latin typeface="IBM Plex Sans" pitchFamily="34" charset="0"/>
                <a:ea typeface="IBM Plex Sans" pitchFamily="34" charset="-122"/>
                <a:cs typeface="IBM Plex Sans" pitchFamily="34" charset="-120"/>
              </a:rPr>
              <a:t> = a region loses more than </a:t>
            </a:r>
            <a:r>
              <a:rPr lang="en-US" sz="1600" b="1" dirty="0">
                <a:solidFill>
                  <a:srgbClr val="13253A"/>
                </a:solidFill>
                <a:latin typeface="IBM Plex Sans" pitchFamily="34" charset="0"/>
                <a:ea typeface="IBM Plex Sans" pitchFamily="34" charset="-122"/>
                <a:cs typeface="IBM Plex Sans" pitchFamily="34" charset="-120"/>
              </a:rPr>
              <a:t>10%</a:t>
            </a:r>
            <a:r>
              <a:rPr lang="en-US" sz="1600" dirty="0">
                <a:solidFill>
                  <a:srgbClr val="13253A"/>
                </a:solidFill>
                <a:latin typeface="IBM Plex Sans" pitchFamily="34" charset="0"/>
                <a:ea typeface="IBM Plex Sans" pitchFamily="34" charset="-122"/>
                <a:cs typeface="IBM Plex Sans" pitchFamily="34" charset="-120"/>
              </a:rPr>
              <a:t> of its output. The </a:t>
            </a:r>
            <a:r>
              <a:rPr lang="en-US" sz="1600" b="1" dirty="0">
                <a:solidFill>
                  <a:srgbClr val="13253A"/>
                </a:solidFill>
                <a:latin typeface="IBM Plex Sans" pitchFamily="34" charset="0"/>
                <a:ea typeface="IBM Plex Sans" pitchFamily="34" charset="-122"/>
                <a:cs typeface="IBM Plex Sans" pitchFamily="34" charset="-120"/>
              </a:rPr>
              <a:t>threshold</a:t>
            </a:r>
            <a:r>
              <a:rPr lang="en-US" sz="1600" dirty="0">
                <a:solidFill>
                  <a:srgbClr val="13253A"/>
                </a:solidFill>
                <a:latin typeface="IBM Plex Sans" pitchFamily="34" charset="0"/>
                <a:ea typeface="IBM Plex Sans" pitchFamily="34" charset="-122"/>
                <a:cs typeface="IBM Plex Sans" pitchFamily="34" charset="-120"/>
              </a:rPr>
              <a:t> is the smallest closure that makes any region systemic.</a:t>
            </a:r>
            <a:endParaRPr lang="en-US" sz="1600" dirty="0"/>
          </a:p>
        </p:txBody>
      </p:sp>
      <p:sp>
        <p:nvSpPr>
          <p:cNvPr id="21" name="Text 19"/>
          <p:cNvSpPr/>
          <p:nvPr/>
        </p:nvSpPr>
        <p:spPr>
          <a:xfrm>
            <a:off x="812800" y="6238239"/>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CITS4403 · 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9F5"/>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CLOSING HORMUZ · STEP 1</a:t>
            </a:r>
            <a:endParaRPr lang="en-US" sz="1200" dirty="0"/>
          </a:p>
        </p:txBody>
      </p:sp>
      <p:sp>
        <p:nvSpPr>
          <p:cNvPr id="3" name="Text 1"/>
          <p:cNvSpPr/>
          <p:nvPr>
            <p:ph type="title"/>
          </p:nvPr>
        </p:nvSpPr>
        <p:spPr>
          <a:xfrm>
            <a:off x="812800" y="873761"/>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53A"/>
                </a:solidFill>
                <a:latin typeface="Source Serif 4" pitchFamily="18" charset="0"/>
                <a:ea typeface="Source Serif 4" pitchFamily="18" charset="-122"/>
                <a:cs typeface="Source Serif 4" pitchFamily="18" charset="-120"/>
              </a:rPr>
              <a:t>At 30%, the bypasses absorb it</a:t>
            </a:r>
            <a:endParaRPr lang="en-US" sz="2800" dirty="0"/>
          </a:p>
        </p:txBody>
      </p:sp>
      <p:sp>
        <p:nvSpPr>
          <p:cNvPr id="4" name="Shape 2"/>
          <p:cNvSpPr/>
          <p:nvPr/>
        </p:nvSpPr>
        <p:spPr>
          <a:xfrm>
            <a:off x="812800" y="1417321"/>
            <a:ext cx="8070850" cy="4635500"/>
          </a:xfrm>
          <a:prstGeom prst="roundRect">
            <a:avLst>
              <a:gd name="adj" fmla="val 1644"/>
            </a:avLst>
          </a:prstGeom>
          <a:solidFill>
            <a:srgbClr val="F5F2EC"/>
          </a:solidFill>
          <a:ln/>
        </p:spPr>
      </p:sp>
      <p:pic>
        <p:nvPicPr>
          <p:cNvPr id="5" name="Image 0" descr="Route network at 30% Hormuz closure: Hormuz 14.6 mb/d, Bab el-Mandeb 5.4 mb/d, every region fully supplied">    </p:cNvPr>
          <p:cNvPicPr>
            <a:picLocks noChangeAspect="1"/>
          </p:cNvPicPr>
          <p:nvPr/>
        </p:nvPicPr>
        <p:blipFill>
          <a:blip r:embed="rId1"/>
          <a:srcRect l="0" r="0" t="-2" b="-2"/>
          <a:stretch/>
        </p:blipFill>
        <p:spPr>
          <a:xfrm>
            <a:off x="812800" y="1417321"/>
            <a:ext cx="8070850" cy="4635500"/>
          </a:xfrm>
          <a:prstGeom prst="roundRect">
            <a:avLst>
              <a:gd name="adj" fmla="val 1644"/>
            </a:avLst>
          </a:prstGeom>
        </p:spPr>
      </p:pic>
      <p:sp>
        <p:nvSpPr>
          <p:cNvPr id="6" name="Text 3"/>
          <p:cNvSpPr/>
          <p:nvPr/>
        </p:nvSpPr>
        <p:spPr>
          <a:xfrm>
            <a:off x="9137650" y="1417321"/>
            <a:ext cx="2308796"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96560A"/>
                </a:solidFill>
                <a:latin typeface="Source Serif 4" pitchFamily="18" charset="0"/>
                <a:ea typeface="Source Serif 4" pitchFamily="18" charset="-122"/>
                <a:cs typeface="Source Serif 4" pitchFamily="18" charset="-120"/>
              </a:rPr>
              <a:t>30%</a:t>
            </a:r>
            <a:endParaRPr lang="en-US" sz="4000" dirty="0"/>
          </a:p>
        </p:txBody>
      </p:sp>
      <p:sp>
        <p:nvSpPr>
          <p:cNvPr id="7" name="Text 4"/>
          <p:cNvSpPr/>
          <p:nvPr/>
        </p:nvSpPr>
        <p:spPr>
          <a:xfrm>
            <a:off x="9137650" y="2052321"/>
            <a:ext cx="2308796" cy="2400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6672"/>
                </a:solidFill>
                <a:latin typeface="IBM Plex Sans" pitchFamily="34" charset="0"/>
                <a:ea typeface="IBM Plex Sans" pitchFamily="34" charset="-122"/>
                <a:cs typeface="IBM Plex Sans" pitchFamily="34" charset="-120"/>
              </a:rPr>
              <a:t>of Hormuz closed</a:t>
            </a:r>
            <a:endParaRPr lang="en-US" sz="1300" dirty="0"/>
          </a:p>
        </p:txBody>
      </p:sp>
      <p:sp>
        <p:nvSpPr>
          <p:cNvPr id="8" name="Text 5"/>
          <p:cNvSpPr/>
          <p:nvPr/>
        </p:nvSpPr>
        <p:spPr>
          <a:xfrm>
            <a:off x="9137650" y="2393950"/>
            <a:ext cx="230879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B5A"/>
                </a:solidFill>
                <a:latin typeface="IBM Plex Sans" pitchFamily="34" charset="0"/>
                <a:ea typeface="IBM Plex Sans" pitchFamily="34" charset="-122"/>
                <a:cs typeface="IBM Plex Sans" pitchFamily="34" charset="-120"/>
              </a:rPr>
              <a:t>Hormuz </a:t>
            </a:r>
            <a:r>
              <a:rPr lang="en-US" sz="1400" b="1" dirty="0">
                <a:solidFill>
                  <a:srgbClr val="13253A"/>
                </a:solidFill>
                <a:latin typeface="IBM Plex Sans" pitchFamily="34" charset="0"/>
                <a:ea typeface="IBM Plex Sans" pitchFamily="34" charset="-122"/>
                <a:cs typeface="IBM Plex Sans" pitchFamily="34" charset="-120"/>
              </a:rPr>
              <a:t>17.6 → 14.6</a:t>
            </a:r>
            <a:endParaRPr lang="en-US" sz="1400" dirty="0"/>
          </a:p>
        </p:txBody>
      </p:sp>
      <p:sp>
        <p:nvSpPr>
          <p:cNvPr id="9" name="Text 6"/>
          <p:cNvSpPr/>
          <p:nvPr/>
        </p:nvSpPr>
        <p:spPr>
          <a:xfrm>
            <a:off x="9137650" y="2760979"/>
            <a:ext cx="2308796" cy="74549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B5A"/>
                </a:solidFill>
                <a:latin typeface="IBM Plex Sans" pitchFamily="34" charset="0"/>
                <a:ea typeface="IBM Plex Sans" pitchFamily="34" charset="-122"/>
                <a:cs typeface="IBM Plex Sans" pitchFamily="34" charset="-120"/>
              </a:rPr>
              <a:t>Saudi pipeline sends more through Bab el-Mandeb: </a:t>
            </a:r>
            <a:r>
              <a:rPr lang="en-US" sz="1400" b="1" dirty="0">
                <a:solidFill>
                  <a:srgbClr val="13253A"/>
                </a:solidFill>
                <a:latin typeface="IBM Plex Sans" pitchFamily="34" charset="0"/>
                <a:ea typeface="IBM Plex Sans" pitchFamily="34" charset="-122"/>
                <a:cs typeface="IBM Plex Sans" pitchFamily="34" charset="-120"/>
              </a:rPr>
              <a:t>2.4 → 5.4</a:t>
            </a:r>
            <a:endParaRPr lang="en-US" sz="1400" dirty="0"/>
          </a:p>
        </p:txBody>
      </p:sp>
      <p:sp>
        <p:nvSpPr>
          <p:cNvPr id="10" name="Text 7"/>
          <p:cNvSpPr/>
          <p:nvPr/>
        </p:nvSpPr>
        <p:spPr>
          <a:xfrm>
            <a:off x="9137650" y="3608071"/>
            <a:ext cx="2308796" cy="26543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1E7A3C"/>
                </a:solidFill>
                <a:latin typeface="IBM Plex Sans" pitchFamily="34" charset="0"/>
                <a:ea typeface="IBM Plex Sans" pitchFamily="34" charset="-122"/>
                <a:cs typeface="IBM Plex Sans" pitchFamily="34" charset="-120"/>
              </a:rPr>
              <a:t>No shortage anywhere</a:t>
            </a:r>
            <a:endParaRPr lang="en-US" sz="1400" dirty="0"/>
          </a:p>
        </p:txBody>
      </p:sp>
      <p:sp>
        <p:nvSpPr>
          <p:cNvPr id="11" name="Text 8"/>
          <p:cNvSpPr/>
          <p:nvPr/>
        </p:nvSpPr>
        <p:spPr>
          <a:xfrm>
            <a:off x="812800" y="63398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Flows in mb/d · CITS4403 · 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9F5"/>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CLOSING HORMUZ · STEP 2</a:t>
            </a:r>
            <a:endParaRPr lang="en-US" sz="1200" dirty="0"/>
          </a:p>
        </p:txBody>
      </p:sp>
      <p:sp>
        <p:nvSpPr>
          <p:cNvPr id="3" name="Text 1"/>
          <p:cNvSpPr/>
          <p:nvPr>
            <p:ph type="title"/>
          </p:nvPr>
        </p:nvSpPr>
        <p:spPr>
          <a:xfrm>
            <a:off x="812800" y="8737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53A"/>
                </a:solidFill>
                <a:latin typeface="Source Serif 4" pitchFamily="18" charset="0"/>
                <a:ea typeface="Source Serif 4" pitchFamily="18" charset="-122"/>
                <a:cs typeface="Source Serif 4" pitchFamily="18" charset="-120"/>
              </a:rPr>
              <a:t>At 55%, the bypasses are full and Asia runs short</a:t>
            </a:r>
            <a:endParaRPr lang="en-US" sz="2800" dirty="0"/>
          </a:p>
        </p:txBody>
      </p:sp>
      <p:sp>
        <p:nvSpPr>
          <p:cNvPr id="4" name="Shape 2"/>
          <p:cNvSpPr/>
          <p:nvPr/>
        </p:nvSpPr>
        <p:spPr>
          <a:xfrm>
            <a:off x="812800" y="1417321"/>
            <a:ext cx="8070850" cy="4635500"/>
          </a:xfrm>
          <a:prstGeom prst="roundRect">
            <a:avLst>
              <a:gd name="adj" fmla="val 1644"/>
            </a:avLst>
          </a:prstGeom>
          <a:solidFill>
            <a:srgbClr val="F5F2EC"/>
          </a:solidFill>
          <a:ln/>
        </p:spPr>
      </p:sp>
      <p:pic>
        <p:nvPicPr>
          <p:cNvPr id="5" name="Image 0" descr="Route network at 55% Hormuz closure: Bab el-Mandeb at the pipeline limit of 7.0 mb/d, Panama full at 3.5, China 86% and Other Asia 94% of demand met">    </p:cNvPr>
          <p:cNvPicPr>
            <a:picLocks noChangeAspect="1"/>
          </p:cNvPicPr>
          <p:nvPr/>
        </p:nvPicPr>
        <p:blipFill>
          <a:blip r:embed="rId1"/>
          <a:srcRect l="0" r="0" t="-2" b="-2"/>
          <a:stretch/>
        </p:blipFill>
        <p:spPr>
          <a:xfrm>
            <a:off x="812800" y="1417321"/>
            <a:ext cx="8070850" cy="4635500"/>
          </a:xfrm>
          <a:prstGeom prst="roundRect">
            <a:avLst>
              <a:gd name="adj" fmla="val 1644"/>
            </a:avLst>
          </a:prstGeom>
        </p:spPr>
      </p:pic>
      <p:sp>
        <p:nvSpPr>
          <p:cNvPr id="6" name="Text 3"/>
          <p:cNvSpPr/>
          <p:nvPr/>
        </p:nvSpPr>
        <p:spPr>
          <a:xfrm>
            <a:off x="9137650" y="1417321"/>
            <a:ext cx="2308796"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C1272D"/>
                </a:solidFill>
                <a:latin typeface="Source Serif 4" pitchFamily="18" charset="0"/>
                <a:ea typeface="Source Serif 4" pitchFamily="18" charset="-122"/>
                <a:cs typeface="Source Serif 4" pitchFamily="18" charset="-120"/>
              </a:rPr>
              <a:t>55%</a:t>
            </a:r>
            <a:endParaRPr lang="en-US" sz="4000" dirty="0"/>
          </a:p>
        </p:txBody>
      </p:sp>
      <p:sp>
        <p:nvSpPr>
          <p:cNvPr id="7" name="Text 4"/>
          <p:cNvSpPr/>
          <p:nvPr/>
        </p:nvSpPr>
        <p:spPr>
          <a:xfrm>
            <a:off x="9137650" y="2052321"/>
            <a:ext cx="230879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6672"/>
                </a:solidFill>
                <a:latin typeface="IBM Plex Sans" pitchFamily="34" charset="0"/>
                <a:ea typeface="IBM Plex Sans" pitchFamily="34" charset="-122"/>
                <a:cs typeface="IBM Plex Sans" pitchFamily="34" charset="-120"/>
              </a:rPr>
              <a:t>of Hormuz closed — just past the 53% threshold</a:t>
            </a:r>
            <a:endParaRPr lang="en-US" sz="1300" dirty="0"/>
          </a:p>
        </p:txBody>
      </p:sp>
      <p:sp>
        <p:nvSpPr>
          <p:cNvPr id="8" name="Text 5"/>
          <p:cNvSpPr/>
          <p:nvPr/>
        </p:nvSpPr>
        <p:spPr>
          <a:xfrm>
            <a:off x="9137650" y="2608579"/>
            <a:ext cx="230879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B5A"/>
                </a:solidFill>
                <a:latin typeface="IBM Plex Sans" pitchFamily="34" charset="0"/>
                <a:ea typeface="IBM Plex Sans" pitchFamily="34" charset="-122"/>
                <a:cs typeface="IBM Plex Sans" pitchFamily="34" charset="-120"/>
              </a:rPr>
              <a:t>Saudi pipeline full: </a:t>
            </a:r>
            <a:r>
              <a:rPr lang="en-US" sz="1400" b="1" dirty="0">
                <a:solidFill>
                  <a:srgbClr val="13253A"/>
                </a:solidFill>
                <a:latin typeface="IBM Plex Sans" pitchFamily="34" charset="0"/>
                <a:ea typeface="IBM Plex Sans" pitchFamily="34" charset="-122"/>
                <a:cs typeface="IBM Plex Sans" pitchFamily="34" charset="-120"/>
              </a:rPr>
              <a:t>7.0</a:t>
            </a:r>
            <a:endParaRPr lang="en-US" sz="1400" dirty="0"/>
          </a:p>
        </p:txBody>
      </p:sp>
      <p:sp>
        <p:nvSpPr>
          <p:cNvPr id="9" name="Text 6"/>
          <p:cNvSpPr/>
          <p:nvPr/>
        </p:nvSpPr>
        <p:spPr>
          <a:xfrm>
            <a:off x="9137650" y="2975608"/>
            <a:ext cx="2308796" cy="50546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B5A"/>
                </a:solidFill>
                <a:latin typeface="IBM Plex Sans" pitchFamily="34" charset="0"/>
                <a:ea typeface="IBM Plex Sans" pitchFamily="34" charset="-122"/>
                <a:cs typeface="IBM Plex Sans" pitchFamily="34" charset="-120"/>
              </a:rPr>
              <a:t>Panama full: </a:t>
            </a:r>
            <a:r>
              <a:rPr lang="en-US" sz="1400" b="1" dirty="0">
                <a:solidFill>
                  <a:srgbClr val="13253A"/>
                </a:solidFill>
                <a:latin typeface="IBM Plex Sans" pitchFamily="34" charset="0"/>
                <a:ea typeface="IBM Plex Sans" pitchFamily="34" charset="-122"/>
                <a:cs typeface="IBM Plex Sans" pitchFamily="34" charset="-120"/>
              </a:rPr>
              <a:t>3.5</a:t>
            </a:r>
            <a:r>
              <a:rPr lang="en-US" sz="1400" dirty="0">
                <a:solidFill>
                  <a:srgbClr val="3F4B5A"/>
                </a:solidFill>
                <a:latin typeface="IBM Plex Sans" pitchFamily="34" charset="0"/>
                <a:ea typeface="IBM Plex Sans" pitchFamily="34" charset="-122"/>
                <a:cs typeface="IBM Plex Sans" pitchFamily="34" charset="-120"/>
              </a:rPr>
              <a:t> across the Pacific</a:t>
            </a:r>
            <a:endParaRPr lang="en-US" sz="1400" dirty="0"/>
          </a:p>
        </p:txBody>
      </p:sp>
      <p:sp>
        <p:nvSpPr>
          <p:cNvPr id="10" name="Text 7"/>
          <p:cNvSpPr/>
          <p:nvPr/>
        </p:nvSpPr>
        <p:spPr>
          <a:xfrm>
            <a:off x="9137650" y="3582671"/>
            <a:ext cx="2308796"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C1272D"/>
                </a:solidFill>
                <a:latin typeface="IBM Plex Sans" pitchFamily="34" charset="0"/>
                <a:ea typeface="IBM Plex Sans" pitchFamily="34" charset="-122"/>
                <a:cs typeface="IBM Plex Sans" pitchFamily="34" charset="-120"/>
              </a:rPr>
              <a:t>China 86%, Other Asia 94%</a:t>
            </a:r>
            <a:r>
              <a:rPr lang="en-US" sz="1400" dirty="0">
                <a:solidFill>
                  <a:srgbClr val="C1272D"/>
                </a:solidFill>
                <a:latin typeface="IBM Plex Sans" pitchFamily="34" charset="0"/>
                <a:ea typeface="IBM Plex Sans" pitchFamily="34" charset="-122"/>
                <a:cs typeface="IBM Plex Sans" pitchFamily="34" charset="-120"/>
              </a:rPr>
              <a:t> of demand met</a:t>
            </a:r>
            <a:endParaRPr lang="en-US" sz="1400" dirty="0"/>
          </a:p>
        </p:txBody>
      </p:sp>
      <p:sp>
        <p:nvSpPr>
          <p:cNvPr id="11" name="Text 8"/>
          <p:cNvSpPr/>
          <p:nvPr/>
        </p:nvSpPr>
        <p:spPr>
          <a:xfrm>
            <a:off x="812800" y="63398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Flows in mb/d · CITS4403 · 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9F5"/>
        </a:solidFill>
      </p:bgPr>
    </p:bg>
    <p:spTree>
      <p:nvGrpSpPr>
        <p:cNvPr id="1" name=""/>
        <p:cNvGrpSpPr/>
        <p:nvPr/>
      </p:nvGrpSpPr>
      <p:grpSpPr>
        <a:xfrm>
          <a:off x="0" y="0"/>
          <a:ext cx="0" cy="0"/>
          <a:chOff x="0" y="0"/>
          <a:chExt cx="0" cy="0"/>
        </a:xfrm>
      </p:grpSpPr>
      <p:sp>
        <p:nvSpPr>
          <p:cNvPr id="2" name="Text 0"/>
          <p:cNvSpPr/>
          <p:nvPr/>
        </p:nvSpPr>
        <p:spPr>
          <a:xfrm>
            <a:off x="812800" y="6096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CLOSING HORMUZ · STEP 3 · THE REAL Q2 2026</a:t>
            </a:r>
            <a:endParaRPr lang="en-US" sz="1200" dirty="0"/>
          </a:p>
        </p:txBody>
      </p:sp>
      <p:sp>
        <p:nvSpPr>
          <p:cNvPr id="3" name="Text 1"/>
          <p:cNvSpPr/>
          <p:nvPr>
            <p:ph type="title"/>
          </p:nvPr>
        </p:nvSpPr>
        <p:spPr>
          <a:xfrm>
            <a:off x="812800" y="873758"/>
            <a:ext cx="10883392" cy="416560"/>
          </a:xfrm>
          <a:prstGeom prst="rect">
            <a:avLst/>
          </a:prstGeom>
          <a:noFill/>
          <a:ln/>
        </p:spPr>
        <p:txBody>
          <a:bodyPr wrap="square" lIns="0" tIns="0" rIns="0" bIns="0" rtlCol="0" anchor="t">
            <a:normAutofit/>
          </a:bodyPr>
          <a:lstStyle/>
          <a:p>
            <a:pPr algn="l" indent="0" marL="0">
              <a:lnSpc>
                <a:spcPts val="3080"/>
              </a:lnSpc>
              <a:buNone/>
            </a:pPr>
            <a:r>
              <a:rPr lang="en-US" sz="2800" b="1" i="0" dirty="0">
                <a:solidFill>
                  <a:srgbClr val="13253A"/>
                </a:solidFill>
                <a:latin typeface="Source Serif 4" pitchFamily="18" charset="0"/>
                <a:ea typeface="Source Serif 4" pitchFamily="18" charset="-122"/>
                <a:cs typeface="Source Serif 4" pitchFamily="18" charset="-120"/>
              </a:rPr>
              <a:t>At 77%, China gets under two-thirds of its oil</a:t>
            </a:r>
            <a:endParaRPr lang="en-US" sz="2800" dirty="0"/>
          </a:p>
        </p:txBody>
      </p:sp>
      <p:sp>
        <p:nvSpPr>
          <p:cNvPr id="4" name="Shape 2"/>
          <p:cNvSpPr/>
          <p:nvPr/>
        </p:nvSpPr>
        <p:spPr>
          <a:xfrm>
            <a:off x="812800" y="1417321"/>
            <a:ext cx="8070850" cy="4635500"/>
          </a:xfrm>
          <a:prstGeom prst="roundRect">
            <a:avLst>
              <a:gd name="adj" fmla="val 1644"/>
            </a:avLst>
          </a:prstGeom>
          <a:solidFill>
            <a:srgbClr val="F5F2EC"/>
          </a:solidFill>
          <a:ln/>
        </p:spPr>
      </p:sp>
      <p:pic>
        <p:nvPicPr>
          <p:cNvPr id="5" name="Image 0" descr="Route network at the Q2 2026 closure, 77%: Hormuz 4.9 mb/d, China 63%, Other Asia 83%, Japan/Korea 98% of demand met">    </p:cNvPr>
          <p:cNvPicPr>
            <a:picLocks noChangeAspect="1"/>
          </p:cNvPicPr>
          <p:nvPr/>
        </p:nvPicPr>
        <p:blipFill>
          <a:blip r:embed="rId1"/>
          <a:srcRect l="0" r="0" t="-2" b="-2"/>
          <a:stretch/>
        </p:blipFill>
        <p:spPr>
          <a:xfrm>
            <a:off x="812800" y="1417321"/>
            <a:ext cx="8070850" cy="4635500"/>
          </a:xfrm>
          <a:prstGeom prst="roundRect">
            <a:avLst>
              <a:gd name="adj" fmla="val 1644"/>
            </a:avLst>
          </a:prstGeom>
        </p:spPr>
      </p:pic>
      <p:sp>
        <p:nvSpPr>
          <p:cNvPr id="6" name="Text 3"/>
          <p:cNvSpPr/>
          <p:nvPr/>
        </p:nvSpPr>
        <p:spPr>
          <a:xfrm>
            <a:off x="9137650" y="1417321"/>
            <a:ext cx="2308796" cy="533400"/>
          </a:xfrm>
          <a:prstGeom prst="rect">
            <a:avLst/>
          </a:prstGeom>
          <a:noFill/>
          <a:ln/>
        </p:spPr>
        <p:txBody>
          <a:bodyPr wrap="square" lIns="0" tIns="0" rIns="0" bIns="0" rtlCol="0" anchor="t">
            <a:normAutofit/>
          </a:bodyPr>
          <a:lstStyle/>
          <a:p>
            <a:pPr algn="l" indent="0" marL="0">
              <a:lnSpc>
                <a:spcPts val="4000"/>
              </a:lnSpc>
              <a:buNone/>
            </a:pPr>
            <a:r>
              <a:rPr lang="en-US" sz="4000" b="1" dirty="0">
                <a:solidFill>
                  <a:srgbClr val="C1272D"/>
                </a:solidFill>
                <a:latin typeface="Source Serif 4" pitchFamily="18" charset="0"/>
                <a:ea typeface="Source Serif 4" pitchFamily="18" charset="-122"/>
                <a:cs typeface="Source Serif 4" pitchFamily="18" charset="-120"/>
              </a:rPr>
              <a:t>77%</a:t>
            </a:r>
            <a:endParaRPr lang="en-US" sz="4000" dirty="0"/>
          </a:p>
        </p:txBody>
      </p:sp>
      <p:sp>
        <p:nvSpPr>
          <p:cNvPr id="7" name="Text 4"/>
          <p:cNvSpPr/>
          <p:nvPr/>
        </p:nvSpPr>
        <p:spPr>
          <a:xfrm>
            <a:off x="9137650" y="2052321"/>
            <a:ext cx="2308796" cy="45466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5E6672"/>
                </a:solidFill>
                <a:latin typeface="IBM Plex Sans" pitchFamily="34" charset="0"/>
                <a:ea typeface="IBM Plex Sans" pitchFamily="34" charset="-122"/>
                <a:cs typeface="IBM Plex Sans" pitchFamily="34" charset="-120"/>
              </a:rPr>
              <a:t>of Hormuz closed, as observed in Q2 2026</a:t>
            </a:r>
            <a:endParaRPr lang="en-US" sz="1300" dirty="0"/>
          </a:p>
        </p:txBody>
      </p:sp>
      <p:sp>
        <p:nvSpPr>
          <p:cNvPr id="8" name="Text 5"/>
          <p:cNvSpPr/>
          <p:nvPr/>
        </p:nvSpPr>
        <p:spPr>
          <a:xfrm>
            <a:off x="9137650" y="2608579"/>
            <a:ext cx="230879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B5A"/>
                </a:solidFill>
                <a:latin typeface="IBM Plex Sans" pitchFamily="34" charset="0"/>
                <a:ea typeface="IBM Plex Sans" pitchFamily="34" charset="-122"/>
                <a:cs typeface="IBM Plex Sans" pitchFamily="34" charset="-120"/>
              </a:rPr>
              <a:t>Hormuz </a:t>
            </a:r>
            <a:r>
              <a:rPr lang="en-US" sz="1400" b="1" dirty="0">
                <a:solidFill>
                  <a:srgbClr val="13253A"/>
                </a:solidFill>
                <a:latin typeface="IBM Plex Sans" pitchFamily="34" charset="0"/>
                <a:ea typeface="IBM Plex Sans" pitchFamily="34" charset="-122"/>
                <a:cs typeface="IBM Plex Sans" pitchFamily="34" charset="-120"/>
              </a:rPr>
              <a:t>4.9</a:t>
            </a:r>
            <a:r>
              <a:rPr lang="en-US" sz="1400" dirty="0">
                <a:solidFill>
                  <a:srgbClr val="3F4B5A"/>
                </a:solidFill>
                <a:latin typeface="IBM Plex Sans" pitchFamily="34" charset="0"/>
                <a:ea typeface="IBM Plex Sans" pitchFamily="34" charset="-122"/>
                <a:cs typeface="IBM Plex Sans" pitchFamily="34" charset="-120"/>
              </a:rPr>
              <a:t> (real value)</a:t>
            </a:r>
            <a:endParaRPr lang="en-US" sz="1400" dirty="0"/>
          </a:p>
        </p:txBody>
      </p:sp>
      <p:sp>
        <p:nvSpPr>
          <p:cNvPr id="9" name="Text 6"/>
          <p:cNvSpPr/>
          <p:nvPr/>
        </p:nvSpPr>
        <p:spPr>
          <a:xfrm>
            <a:off x="9137650" y="2975608"/>
            <a:ext cx="2308796" cy="505460"/>
          </a:xfrm>
          <a:prstGeom prst="rect">
            <a:avLst/>
          </a:prstGeom>
          <a:noFill/>
          <a:ln/>
        </p:spPr>
        <p:txBody>
          <a:bodyPr wrap="square" lIns="0" tIns="0" rIns="0" bIns="0" rtlCol="0" anchor="t">
            <a:normAutofit/>
          </a:bodyPr>
          <a:lstStyle/>
          <a:p>
            <a:pPr algn="l" indent="0" marL="0">
              <a:lnSpc>
                <a:spcPts val="1890"/>
              </a:lnSpc>
              <a:buNone/>
            </a:pPr>
            <a:r>
              <a:rPr lang="en-US" sz="1400" b="1" dirty="0">
                <a:solidFill>
                  <a:srgbClr val="C1272D"/>
                </a:solidFill>
                <a:latin typeface="IBM Plex Sans" pitchFamily="34" charset="0"/>
                <a:ea typeface="IBM Plex Sans" pitchFamily="34" charset="-122"/>
                <a:cs typeface="IBM Plex Sans" pitchFamily="34" charset="-120"/>
              </a:rPr>
              <a:t>China 63%</a:t>
            </a:r>
            <a:r>
              <a:rPr lang="en-US" sz="1400" dirty="0">
                <a:solidFill>
                  <a:srgbClr val="C1272D"/>
                </a:solidFill>
                <a:latin typeface="IBM Plex Sans" pitchFamily="34" charset="0"/>
                <a:ea typeface="IBM Plex Sans" pitchFamily="34" charset="-122"/>
                <a:cs typeface="IBM Plex Sans" pitchFamily="34" charset="-120"/>
              </a:rPr>
              <a:t>, Other Asia 83%</a:t>
            </a:r>
            <a:endParaRPr lang="en-US" sz="1400" dirty="0"/>
          </a:p>
        </p:txBody>
      </p:sp>
      <p:sp>
        <p:nvSpPr>
          <p:cNvPr id="10" name="Text 7"/>
          <p:cNvSpPr/>
          <p:nvPr/>
        </p:nvSpPr>
        <p:spPr>
          <a:xfrm>
            <a:off x="9137650" y="3582671"/>
            <a:ext cx="2308796" cy="26543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3F4B5A"/>
                </a:solidFill>
                <a:latin typeface="IBM Plex Sans" pitchFamily="34" charset="0"/>
                <a:ea typeface="IBM Plex Sans" pitchFamily="34" charset="-122"/>
                <a:cs typeface="IBM Plex Sans" pitchFamily="34" charset="-120"/>
              </a:rPr>
              <a:t>World shortage </a:t>
            </a:r>
            <a:r>
              <a:rPr lang="en-US" sz="1400" b="1" dirty="0">
                <a:solidFill>
                  <a:srgbClr val="13253A"/>
                </a:solidFill>
                <a:latin typeface="IBM Plex Sans" pitchFamily="34" charset="0"/>
                <a:ea typeface="IBM Plex Sans" pitchFamily="34" charset="-122"/>
                <a:cs typeface="IBM Plex Sans" pitchFamily="34" charset="-120"/>
              </a:rPr>
              <a:t>7.8</a:t>
            </a:r>
            <a:endParaRPr lang="en-US" sz="1400" dirty="0"/>
          </a:p>
        </p:txBody>
      </p:sp>
      <p:sp>
        <p:nvSpPr>
          <p:cNvPr id="11" name="Text 8"/>
          <p:cNvSpPr/>
          <p:nvPr/>
        </p:nvSpPr>
        <p:spPr>
          <a:xfrm>
            <a:off x="812800" y="63398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Flows in mb/d, before reserves · CITS4403 · 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Q1 · IS THERE A TIPPING POINT?</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Yes — at 53% of Hormuz closed</a:t>
            </a:r>
            <a:endParaRPr lang="en-US" sz="3200" dirty="0"/>
          </a:p>
        </p:txBody>
      </p:sp>
      <p:sp>
        <p:nvSpPr>
          <p:cNvPr id="4" name="Shape 2"/>
          <p:cNvSpPr/>
          <p:nvPr/>
        </p:nvSpPr>
        <p:spPr>
          <a:xfrm>
            <a:off x="812800" y="1727200"/>
            <a:ext cx="10566400" cy="3492500"/>
          </a:xfrm>
          <a:prstGeom prst="roundRect">
            <a:avLst>
              <a:gd name="adj" fmla="val 2182"/>
            </a:avLst>
          </a:prstGeom>
          <a:solidFill>
            <a:srgbClr val="F5F2EC"/>
          </a:solidFill>
          <a:ln/>
        </p:spPr>
      </p:sp>
      <p:pic>
        <p:nvPicPr>
          <p:cNvPr id="5" name="Image 0" descr="Left: chokepoint flows as Hormuz closes. Right: unserved demand is near zero until about 45% closure, then rises to 12.8 mb/d at full closure; with Bab el-Mandeb also closed it starts at about 25%">    </p:cNvPr>
          <p:cNvPicPr>
            <a:picLocks noChangeAspect="1"/>
          </p:cNvPicPr>
          <p:nvPr/>
        </p:nvPicPr>
        <p:blipFill>
          <a:blip r:embed="rId1"/>
          <a:stretch>
            <a:fillRect/>
          </a:stretch>
        </p:blipFill>
        <p:spPr>
          <a:xfrm>
            <a:off x="1206500" y="1727200"/>
            <a:ext cx="9779000" cy="3492500"/>
          </a:xfrm>
          <a:prstGeom prst="rect">
            <a:avLst/>
          </a:prstGeom>
        </p:spPr>
      </p:pic>
      <p:sp>
        <p:nvSpPr>
          <p:cNvPr id="6" name="Text 3"/>
          <p:cNvSpPr/>
          <p:nvPr/>
        </p:nvSpPr>
        <p:spPr>
          <a:xfrm>
            <a:off x="812800" y="5397500"/>
            <a:ext cx="113792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Up to ~45% the bypass pipelines absorb the closure; after that the shortage climbs fast and falls on China and Other Asia.</a:t>
            </a:r>
            <a:endParaRPr lang="en-US" sz="1500" dirty="0"/>
          </a:p>
        </p:txBody>
      </p:sp>
      <p:sp>
        <p:nvSpPr>
          <p:cNvPr id="7" name="Text 4"/>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Robust: 52.6–53.1% as the shutdown level moves from 30% to 60% · CITS4403 · 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Q2 · WHICH FIX WORKS BEST?</a:t>
            </a:r>
            <a:endParaRPr lang="en-US" sz="1200" dirty="0"/>
          </a:p>
        </p:txBody>
      </p:sp>
      <p:sp>
        <p:nvSpPr>
          <p:cNvPr id="3" name="Text 1"/>
          <p:cNvSpPr/>
          <p:nvPr>
            <p:ph type="title"/>
          </p:nvPr>
        </p:nvSpPr>
        <p:spPr>
          <a:xfrm>
            <a:off x="812800" y="1102358"/>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Pipelines win per barrel; reserves win only for a while</a:t>
            </a:r>
            <a:endParaRPr lang="en-US" sz="3200" dirty="0"/>
          </a:p>
        </p:txBody>
      </p:sp>
      <p:sp>
        <p:nvSpPr>
          <p:cNvPr id="4" name="Shape 2"/>
          <p:cNvSpPr/>
          <p:nvPr/>
        </p:nvSpPr>
        <p:spPr>
          <a:xfrm>
            <a:off x="812800" y="2250442"/>
            <a:ext cx="6350000" cy="3048000"/>
          </a:xfrm>
          <a:prstGeom prst="roundRect">
            <a:avLst>
              <a:gd name="adj" fmla="val 2500"/>
            </a:avLst>
          </a:prstGeom>
          <a:solidFill>
            <a:srgbClr val="FBF9F5"/>
          </a:solidFill>
          <a:ln/>
        </p:spPr>
      </p:sp>
      <p:pic>
        <p:nvPicPr>
          <p:cNvPr id="5" name="Image 0" descr="Rise in the threshold above 53%: equal size bypass +14.4, restraint +6.5, reserves +5.1; realistic size bypass +9.6, restraint +6.8, reserves +18.6, all three +38.0">    </p:cNvPr>
          <p:cNvPicPr>
            <a:picLocks noChangeAspect="1"/>
          </p:cNvPicPr>
          <p:nvPr/>
        </p:nvPicPr>
        <p:blipFill>
          <a:blip r:embed="rId1"/>
          <a:srcRect l="0" r="0" t="0" b="0"/>
          <a:stretch/>
        </p:blipFill>
        <p:spPr>
          <a:xfrm>
            <a:off x="812800" y="2250442"/>
            <a:ext cx="6350000" cy="3048000"/>
          </a:xfrm>
          <a:prstGeom prst="roundRect">
            <a:avLst>
              <a:gd name="adj" fmla="val 2500"/>
            </a:avLst>
          </a:prstGeom>
        </p:spPr>
      </p:pic>
      <p:sp>
        <p:nvSpPr>
          <p:cNvPr id="6" name="Text 3"/>
          <p:cNvSpPr/>
          <p:nvPr/>
        </p:nvSpPr>
        <p:spPr>
          <a:xfrm>
            <a:off x="7467600" y="2800350"/>
            <a:ext cx="40289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2B6CB0"/>
                </a:solidFill>
                <a:latin typeface="IBM Plex Sans" pitchFamily="34" charset="0"/>
                <a:ea typeface="IBM Plex Sans" pitchFamily="34" charset="-122"/>
                <a:cs typeface="IBM Plex Sans" pitchFamily="34" charset="-120"/>
              </a:rPr>
              <a:t>Same size (~3 mb/d each)</a:t>
            </a:r>
            <a:endParaRPr lang="en-US" sz="1300" dirty="0"/>
          </a:p>
        </p:txBody>
      </p:sp>
      <p:sp>
        <p:nvSpPr>
          <p:cNvPr id="7" name="Text 4"/>
          <p:cNvSpPr/>
          <p:nvPr/>
        </p:nvSpPr>
        <p:spPr>
          <a:xfrm>
            <a:off x="7467600" y="3082292"/>
            <a:ext cx="402894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F4B5A"/>
                </a:solidFill>
                <a:latin typeface="IBM Plex Sans" pitchFamily="34" charset="0"/>
                <a:ea typeface="IBM Plex Sans" pitchFamily="34" charset="-122"/>
                <a:cs typeface="IBM Plex Sans" pitchFamily="34" charset="-120"/>
              </a:rPr>
              <a:t>Bypass </a:t>
            </a:r>
            <a:r>
              <a:rPr lang="en-US" sz="1500" b="1" dirty="0">
                <a:solidFill>
                  <a:srgbClr val="3F4B5A"/>
                </a:solidFill>
                <a:latin typeface="IBM Plex Sans" pitchFamily="34" charset="0"/>
                <a:ea typeface="IBM Plex Sans" pitchFamily="34" charset="-122"/>
                <a:cs typeface="IBM Plex Sans" pitchFamily="34" charset="-120"/>
              </a:rPr>
              <a:t>+14</a:t>
            </a:r>
            <a:r>
              <a:rPr lang="en-US" sz="1500" dirty="0">
                <a:solidFill>
                  <a:srgbClr val="3F4B5A"/>
                </a:solidFill>
                <a:latin typeface="IBM Plex Sans" pitchFamily="34" charset="0"/>
                <a:ea typeface="IBM Plex Sans" pitchFamily="34" charset="-122"/>
                <a:cs typeface="IBM Plex Sans" pitchFamily="34" charset="-120"/>
              </a:rPr>
              <a:t> · Use less </a:t>
            </a:r>
            <a:r>
              <a:rPr lang="en-US" sz="1500" b="1" dirty="0">
                <a:solidFill>
                  <a:srgbClr val="3F4B5A"/>
                </a:solidFill>
                <a:latin typeface="IBM Plex Sans" pitchFamily="34" charset="0"/>
                <a:ea typeface="IBM Plex Sans" pitchFamily="34" charset="-122"/>
                <a:cs typeface="IBM Plex Sans" pitchFamily="34" charset="-120"/>
              </a:rPr>
              <a:t>+7</a:t>
            </a:r>
            <a:r>
              <a:rPr lang="en-US" sz="1500" dirty="0">
                <a:solidFill>
                  <a:srgbClr val="3F4B5A"/>
                </a:solidFill>
                <a:latin typeface="IBM Plex Sans" pitchFamily="34" charset="0"/>
                <a:ea typeface="IBM Plex Sans" pitchFamily="34" charset="-122"/>
                <a:cs typeface="IBM Plex Sans" pitchFamily="34" charset="-120"/>
              </a:rPr>
              <a:t> · Reserves </a:t>
            </a:r>
            <a:r>
              <a:rPr lang="en-US" sz="1500" b="1" dirty="0">
                <a:solidFill>
                  <a:srgbClr val="3F4B5A"/>
                </a:solidFill>
                <a:latin typeface="IBM Plex Sans" pitchFamily="34" charset="0"/>
                <a:ea typeface="IBM Plex Sans" pitchFamily="34" charset="-122"/>
                <a:cs typeface="IBM Plex Sans" pitchFamily="34" charset="-120"/>
              </a:rPr>
              <a:t>+5</a:t>
            </a:r>
            <a:endParaRPr lang="en-US" sz="1500" dirty="0"/>
          </a:p>
        </p:txBody>
      </p:sp>
      <p:sp>
        <p:nvSpPr>
          <p:cNvPr id="8" name="Text 5"/>
          <p:cNvSpPr/>
          <p:nvPr/>
        </p:nvSpPr>
        <p:spPr>
          <a:xfrm>
            <a:off x="7467600" y="3517267"/>
            <a:ext cx="4028948"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6560A"/>
                </a:solidFill>
                <a:latin typeface="IBM Plex Sans" pitchFamily="34" charset="0"/>
                <a:ea typeface="IBM Plex Sans" pitchFamily="34" charset="-122"/>
                <a:cs typeface="IBM Plex Sans" pitchFamily="34" charset="-120"/>
              </a:rPr>
              <a:t>Realistic size</a:t>
            </a:r>
            <a:endParaRPr lang="en-US" sz="1300" dirty="0"/>
          </a:p>
        </p:txBody>
      </p:sp>
      <p:sp>
        <p:nvSpPr>
          <p:cNvPr id="9" name="Text 6"/>
          <p:cNvSpPr/>
          <p:nvPr/>
        </p:nvSpPr>
        <p:spPr>
          <a:xfrm>
            <a:off x="7467600" y="3799204"/>
            <a:ext cx="4028948"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3F4B5A"/>
                </a:solidFill>
                <a:latin typeface="IBM Plex Sans" pitchFamily="34" charset="0"/>
                <a:ea typeface="IBM Plex Sans" pitchFamily="34" charset="-122"/>
                <a:cs typeface="IBM Plex Sans" pitchFamily="34" charset="-120"/>
              </a:rPr>
              <a:t>Reserves </a:t>
            </a:r>
            <a:r>
              <a:rPr lang="en-US" sz="1500" b="1" dirty="0">
                <a:solidFill>
                  <a:srgbClr val="3F4B5A"/>
                </a:solidFill>
                <a:latin typeface="IBM Plex Sans" pitchFamily="34" charset="0"/>
                <a:ea typeface="IBM Plex Sans" pitchFamily="34" charset="-122"/>
                <a:cs typeface="IBM Plex Sans" pitchFamily="34" charset="-120"/>
              </a:rPr>
              <a:t>+19</a:t>
            </a:r>
            <a:r>
              <a:rPr lang="en-US" sz="1500" dirty="0">
                <a:solidFill>
                  <a:srgbClr val="3F4B5A"/>
                </a:solidFill>
                <a:latin typeface="IBM Plex Sans" pitchFamily="34" charset="0"/>
                <a:ea typeface="IBM Plex Sans" pitchFamily="34" charset="-122"/>
                <a:cs typeface="IBM Plex Sans" pitchFamily="34" charset="-120"/>
              </a:rPr>
              <a:t> (until they run out) · Bypass </a:t>
            </a:r>
            <a:r>
              <a:rPr lang="en-US" sz="1500" b="1" dirty="0">
                <a:solidFill>
                  <a:srgbClr val="3F4B5A"/>
                </a:solidFill>
                <a:latin typeface="IBM Plex Sans" pitchFamily="34" charset="0"/>
                <a:ea typeface="IBM Plex Sans" pitchFamily="34" charset="-122"/>
                <a:cs typeface="IBM Plex Sans" pitchFamily="34" charset="-120"/>
              </a:rPr>
              <a:t>+10</a:t>
            </a:r>
            <a:r>
              <a:rPr lang="en-US" sz="1500" dirty="0">
                <a:solidFill>
                  <a:srgbClr val="3F4B5A"/>
                </a:solidFill>
                <a:latin typeface="IBM Plex Sans" pitchFamily="34" charset="0"/>
                <a:ea typeface="IBM Plex Sans" pitchFamily="34" charset="-122"/>
                <a:cs typeface="IBM Plex Sans" pitchFamily="34" charset="-120"/>
              </a:rPr>
              <a:t> · Use less </a:t>
            </a:r>
            <a:r>
              <a:rPr lang="en-US" sz="1500" b="1" dirty="0">
                <a:solidFill>
                  <a:srgbClr val="3F4B5A"/>
                </a:solidFill>
                <a:latin typeface="IBM Plex Sans" pitchFamily="34" charset="0"/>
                <a:ea typeface="IBM Plex Sans" pitchFamily="34" charset="-122"/>
                <a:cs typeface="IBM Plex Sans" pitchFamily="34" charset="-120"/>
              </a:rPr>
              <a:t>+7</a:t>
            </a:r>
            <a:endParaRPr lang="en-US" sz="1500" dirty="0"/>
          </a:p>
        </p:txBody>
      </p:sp>
      <p:sp>
        <p:nvSpPr>
          <p:cNvPr id="10" name="Text 7"/>
          <p:cNvSpPr/>
          <p:nvPr/>
        </p:nvSpPr>
        <p:spPr>
          <a:xfrm>
            <a:off x="7467600" y="4491354"/>
            <a:ext cx="4028948" cy="28257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13253A"/>
                </a:solidFill>
                <a:latin typeface="IBM Plex Sans" pitchFamily="34" charset="0"/>
                <a:ea typeface="IBM Plex Sans" pitchFamily="34" charset="-122"/>
                <a:cs typeface="IBM Plex Sans" pitchFamily="34" charset="-120"/>
              </a:rPr>
              <a:t>All three together: </a:t>
            </a:r>
            <a:r>
              <a:rPr lang="en-US" sz="1500" b="1" dirty="0">
                <a:solidFill>
                  <a:srgbClr val="13253A"/>
                </a:solidFill>
                <a:latin typeface="IBM Plex Sans" pitchFamily="34" charset="0"/>
                <a:ea typeface="IBM Plex Sans" pitchFamily="34" charset="-122"/>
                <a:cs typeface="IBM Plex Sans" pitchFamily="34" charset="-120"/>
              </a:rPr>
              <a:t>+38</a:t>
            </a:r>
            <a:r>
              <a:rPr lang="en-US" sz="1500" dirty="0">
                <a:solidFill>
                  <a:srgbClr val="13253A"/>
                </a:solidFill>
                <a:latin typeface="IBM Plex Sans" pitchFamily="34" charset="0"/>
                <a:ea typeface="IBM Plex Sans" pitchFamily="34" charset="-122"/>
                <a:cs typeface="IBM Plex Sans" pitchFamily="34" charset="-120"/>
              </a:rPr>
              <a:t> points</a:t>
            </a:r>
            <a:endParaRPr lang="en-US" sz="1500" dirty="0"/>
          </a:p>
        </p:txBody>
      </p:sp>
      <p:sp>
        <p:nvSpPr>
          <p:cNvPr id="11"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Points = rise in the threshold above 53% · CITS4403 · 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Q3 AND Q4</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The safety valve is also the weak spot</a:t>
            </a:r>
            <a:endParaRPr lang="en-US" sz="3200" dirty="0"/>
          </a:p>
        </p:txBody>
      </p:sp>
      <p:sp>
        <p:nvSpPr>
          <p:cNvPr id="4" name="Shape 2"/>
          <p:cNvSpPr/>
          <p:nvPr/>
        </p:nvSpPr>
        <p:spPr>
          <a:xfrm>
            <a:off x="815975" y="1857375"/>
            <a:ext cx="5149850" cy="2510790"/>
          </a:xfrm>
          <a:prstGeom prst="roundRect">
            <a:avLst>
              <a:gd name="adj" fmla="val 3920"/>
            </a:avLst>
          </a:prstGeom>
          <a:solidFill>
            <a:srgbClr val="F5F2EC"/>
          </a:solidFill>
          <a:ln w="6350">
            <a:solidFill>
              <a:srgbClr val="D8CFC0"/>
            </a:solidFill>
            <a:prstDash val="solid"/>
          </a:ln>
        </p:spPr>
      </p:sp>
      <p:sp>
        <p:nvSpPr>
          <p:cNvPr id="5" name="Text 3"/>
          <p:cNvSpPr/>
          <p:nvPr/>
        </p:nvSpPr>
        <p:spPr>
          <a:xfrm>
            <a:off x="1123950" y="2165350"/>
            <a:ext cx="466991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6560A"/>
                </a:solidFill>
                <a:latin typeface="IBM Plex Sans" pitchFamily="34" charset="0"/>
                <a:ea typeface="IBM Plex Sans" pitchFamily="34" charset="-122"/>
                <a:cs typeface="IBM Plex Sans" pitchFamily="34" charset="-120"/>
              </a:rPr>
              <a:t>Q3 · A second strait closes</a:t>
            </a:r>
            <a:endParaRPr lang="en-US" sz="1300" dirty="0"/>
          </a:p>
        </p:txBody>
      </p:sp>
      <p:sp>
        <p:nvSpPr>
          <p:cNvPr id="6" name="Text 4"/>
          <p:cNvSpPr/>
          <p:nvPr/>
        </p:nvSpPr>
        <p:spPr>
          <a:xfrm>
            <a:off x="1123950" y="2523492"/>
            <a:ext cx="466991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C1272D"/>
                </a:solidFill>
                <a:latin typeface="Source Serif 4" pitchFamily="18" charset="0"/>
                <a:ea typeface="Source Serif 4" pitchFamily="18" charset="-122"/>
                <a:cs typeface="Source Serif 4" pitchFamily="18" charset="-120"/>
              </a:rPr>
              <a:t>+49%</a:t>
            </a:r>
            <a:endParaRPr lang="en-US" sz="4800" dirty="0"/>
          </a:p>
        </p:txBody>
      </p:sp>
      <p:sp>
        <p:nvSpPr>
          <p:cNvPr id="7" name="Text 5"/>
          <p:cNvSpPr/>
          <p:nvPr/>
        </p:nvSpPr>
        <p:spPr>
          <a:xfrm>
            <a:off x="1123950" y="3260092"/>
            <a:ext cx="466991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more shortage at 70% closure when Bab el-Mandeb also shuts (6.6 → 9.9 mb/d). The main bypass pipeline exits through it.</a:t>
            </a:r>
            <a:endParaRPr lang="en-US" sz="1500" dirty="0"/>
          </a:p>
        </p:txBody>
      </p:sp>
      <p:sp>
        <p:nvSpPr>
          <p:cNvPr id="8" name="Shape 6"/>
          <p:cNvSpPr/>
          <p:nvPr/>
        </p:nvSpPr>
        <p:spPr>
          <a:xfrm>
            <a:off x="6226175" y="1857375"/>
            <a:ext cx="5149850" cy="2510790"/>
          </a:xfrm>
          <a:prstGeom prst="roundRect">
            <a:avLst>
              <a:gd name="adj" fmla="val 3920"/>
            </a:avLst>
          </a:prstGeom>
          <a:solidFill>
            <a:srgbClr val="F5F2EC"/>
          </a:solidFill>
          <a:ln w="6350">
            <a:solidFill>
              <a:srgbClr val="D8CFC0"/>
            </a:solidFill>
            <a:prstDash val="solid"/>
          </a:ln>
        </p:spPr>
      </p:sp>
      <p:sp>
        <p:nvSpPr>
          <p:cNvPr id="9" name="Text 7"/>
          <p:cNvSpPr/>
          <p:nvPr/>
        </p:nvSpPr>
        <p:spPr>
          <a:xfrm>
            <a:off x="6534150" y="2165350"/>
            <a:ext cx="4669917" cy="256540"/>
          </a:xfrm>
          <a:prstGeom prst="rect">
            <a:avLst/>
          </a:prstGeom>
          <a:noFill/>
          <a:ln/>
        </p:spPr>
        <p:txBody>
          <a:bodyPr wrap="square" lIns="0" tIns="0" rIns="0" bIns="0" rtlCol="0" anchor="t">
            <a:normAutofit/>
          </a:bodyPr>
          <a:lstStyle/>
          <a:p>
            <a:pPr algn="l" indent="0" marL="0">
              <a:lnSpc>
                <a:spcPts val="1820"/>
              </a:lnSpc>
              <a:buNone/>
            </a:pPr>
            <a:r>
              <a:rPr lang="en-US" sz="1300" b="1" dirty="0">
                <a:solidFill>
                  <a:srgbClr val="96560A"/>
                </a:solidFill>
                <a:latin typeface="IBM Plex Sans" pitchFamily="34" charset="0"/>
                <a:ea typeface="IBM Plex Sans" pitchFamily="34" charset="-122"/>
                <a:cs typeface="IBM Plex Sans" pitchFamily="34" charset="-120"/>
              </a:rPr>
              <a:t>Q4 · Where reserves sit</a:t>
            </a:r>
            <a:endParaRPr lang="en-US" sz="1300" dirty="0"/>
          </a:p>
        </p:txBody>
      </p:sp>
      <p:sp>
        <p:nvSpPr>
          <p:cNvPr id="10" name="Text 8"/>
          <p:cNvSpPr/>
          <p:nvPr/>
        </p:nvSpPr>
        <p:spPr>
          <a:xfrm>
            <a:off x="6534150" y="2523492"/>
            <a:ext cx="4669917" cy="635000"/>
          </a:xfrm>
          <a:prstGeom prst="rect">
            <a:avLst/>
          </a:prstGeom>
          <a:noFill/>
          <a:ln/>
        </p:spPr>
        <p:txBody>
          <a:bodyPr wrap="square" lIns="0" tIns="0" rIns="0" bIns="0" rtlCol="0" anchor="t">
            <a:normAutofit/>
          </a:bodyPr>
          <a:lstStyle/>
          <a:p>
            <a:pPr algn="l" indent="0" marL="0">
              <a:lnSpc>
                <a:spcPts val="4800"/>
              </a:lnSpc>
              <a:buNone/>
            </a:pPr>
            <a:r>
              <a:rPr lang="en-US" sz="4800" b="1" dirty="0">
                <a:solidFill>
                  <a:srgbClr val="13253A"/>
                </a:solidFill>
                <a:latin typeface="Source Serif 4" pitchFamily="18" charset="0"/>
                <a:ea typeface="Source Serif 4" pitchFamily="18" charset="-122"/>
                <a:cs typeface="Source Serif 4" pitchFamily="18" charset="-120"/>
              </a:rPr>
              <a:t>$151 vs $81</a:t>
            </a:r>
            <a:endParaRPr lang="en-US" sz="4800" dirty="0"/>
          </a:p>
        </p:txBody>
      </p:sp>
      <p:sp>
        <p:nvSpPr>
          <p:cNvPr id="11" name="Text 9"/>
          <p:cNvSpPr/>
          <p:nvPr/>
        </p:nvSpPr>
        <p:spPr>
          <a:xfrm>
            <a:off x="6534150" y="3260092"/>
            <a:ext cx="4669917"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Brent on day 100 of a full closure: regional reserves vs one shared pool ($236 with none). About 500 Mb in the US, Europe and India is never used.</a:t>
            </a:r>
            <a:endParaRPr lang="en-US" sz="1500" dirty="0"/>
          </a:p>
        </p:txBody>
      </p:sp>
      <p:sp>
        <p:nvSpPr>
          <p:cNvPr id="12" name="Text 10"/>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CITS4403 · 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Q3 · ONE STRAIT OR TWO</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Supply damage under single and combined closures</a:t>
            </a:r>
            <a:endParaRPr lang="en-US" sz="3200" dirty="0"/>
          </a:p>
        </p:txBody>
      </p:sp>
      <p:sp>
        <p:nvSpPr>
          <p:cNvPr id="4" name="Shape 2"/>
          <p:cNvSpPr/>
          <p:nvPr/>
        </p:nvSpPr>
        <p:spPr>
          <a:xfrm>
            <a:off x="812800" y="1752600"/>
            <a:ext cx="10566400" cy="3105150"/>
          </a:xfrm>
          <a:prstGeom prst="roundRect">
            <a:avLst>
              <a:gd name="adj" fmla="val 2454"/>
            </a:avLst>
          </a:prstGeom>
          <a:solidFill>
            <a:srgbClr val="FBF9F5"/>
          </a:solidFill>
          <a:ln/>
        </p:spPr>
      </p:sp>
      <p:pic>
        <p:nvPicPr>
          <p:cNvPr id="5" name="Image 0" descr="Unserved demand against Hormuz closure for four Bab el-Mandeb levels, against Bab el-Mandeb closure for four Hormuz levels, and a heat map of both, with the Q2 2026 and September 2026 points marked">    </p:cNvPr>
          <p:cNvPicPr>
            <a:picLocks noChangeAspect="1"/>
          </p:cNvPicPr>
          <p:nvPr/>
        </p:nvPicPr>
        <p:blipFill>
          <a:blip r:embed="rId1"/>
          <a:srcRect l="-42" r="-42" t="0" b="0"/>
          <a:stretch/>
        </p:blipFill>
        <p:spPr>
          <a:xfrm>
            <a:off x="812800" y="1752600"/>
            <a:ext cx="10566400" cy="3105150"/>
          </a:xfrm>
          <a:prstGeom prst="roundRect">
            <a:avLst>
              <a:gd name="adj" fmla="val 2454"/>
            </a:avLst>
          </a:prstGeom>
        </p:spPr>
      </p:pic>
      <p:sp>
        <p:nvSpPr>
          <p:cNvPr id="6" name="Text 3"/>
          <p:cNvSpPr/>
          <p:nvPr/>
        </p:nvSpPr>
        <p:spPr>
          <a:xfrm>
            <a:off x="812800" y="5060950"/>
            <a:ext cx="531088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53A"/>
                </a:solidFill>
                <a:latin typeface="IBM Plex Sans" pitchFamily="34" charset="0"/>
                <a:ea typeface="IBM Plex Sans" pitchFamily="34" charset="-122"/>
                <a:cs typeface="IBM Plex Sans" pitchFamily="34" charset="-120"/>
              </a:rPr>
              <a:t>Hormuz drives the damage:</a:t>
            </a:r>
            <a:r>
              <a:rPr lang="en-US" sz="1400" dirty="0">
                <a:solidFill>
                  <a:srgbClr val="3F4B5A"/>
                </a:solidFill>
                <a:latin typeface="IBM Plex Sans" pitchFamily="34" charset="0"/>
                <a:ea typeface="IBM Plex Sans" pitchFamily="34" charset="-122"/>
                <a:cs typeface="IBM Plex Sans" pitchFamily="34" charset="-120"/>
              </a:rPr>
              <a:t> Bab el-Mandeb closed on its own does nothing (blue line, middle).</a:t>
            </a:r>
            <a:endParaRPr lang="en-US" sz="1400" dirty="0"/>
          </a:p>
        </p:txBody>
      </p:sp>
      <p:sp>
        <p:nvSpPr>
          <p:cNvPr id="7" name="Text 4"/>
          <p:cNvSpPr/>
          <p:nvPr/>
        </p:nvSpPr>
        <p:spPr>
          <a:xfrm>
            <a:off x="6223000" y="5060950"/>
            <a:ext cx="531088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53A"/>
                </a:solidFill>
                <a:latin typeface="IBM Plex Sans" pitchFamily="34" charset="0"/>
                <a:ea typeface="IBM Plex Sans" pitchFamily="34" charset="-122"/>
                <a:cs typeface="IBM Plex Sans" pitchFamily="34" charset="-120"/>
              </a:rPr>
              <a:t>Together they compound:</a:t>
            </a:r>
            <a:r>
              <a:rPr lang="en-US" sz="1400" dirty="0">
                <a:solidFill>
                  <a:srgbClr val="3F4B5A"/>
                </a:solidFill>
                <a:latin typeface="IBM Plex Sans" pitchFamily="34" charset="0"/>
                <a:ea typeface="IBM Plex Sans" pitchFamily="34" charset="-122"/>
                <a:cs typeface="IBM Plex Sans" pitchFamily="34" charset="-120"/>
              </a:rPr>
              <a:t> both fully closed = 16.1 mb/d short, vs 12.8 for Hormuz alone (darkest corner).</a:t>
            </a:r>
            <a:endParaRPr lang="en-US" sz="1400" dirty="0"/>
          </a:p>
        </p:txBody>
      </p:sp>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121 runs: every 10% step of each strait · stars = real 2026 situations · CITS4403 · 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Q3 · THE PRICE</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Equilibrium Brent price under the same closures</a:t>
            </a:r>
            <a:endParaRPr lang="en-US" sz="3200" dirty="0"/>
          </a:p>
        </p:txBody>
      </p:sp>
      <p:sp>
        <p:nvSpPr>
          <p:cNvPr id="4" name="Shape 2"/>
          <p:cNvSpPr/>
          <p:nvPr/>
        </p:nvSpPr>
        <p:spPr>
          <a:xfrm>
            <a:off x="812800" y="1752600"/>
            <a:ext cx="10566400" cy="3105150"/>
          </a:xfrm>
          <a:prstGeom prst="roundRect">
            <a:avLst>
              <a:gd name="adj" fmla="val 2454"/>
            </a:avLst>
          </a:prstGeom>
          <a:solidFill>
            <a:srgbClr val="F5F2EC"/>
          </a:solidFill>
          <a:ln/>
        </p:spPr>
      </p:sp>
      <p:pic>
        <p:nvPicPr>
          <p:cNvPr id="5" name="Image 0" descr="Equilibrium Brent price against Hormuz closure, against Bab el-Mandeb closure, and a heat map of both; Hormuz alone fully closed gives about $236, both fully closed about $338">    </p:cNvPr>
          <p:cNvPicPr>
            <a:picLocks noChangeAspect="1"/>
          </p:cNvPicPr>
          <p:nvPr/>
        </p:nvPicPr>
        <p:blipFill>
          <a:blip r:embed="rId1"/>
          <a:srcRect l="-42" r="-42" t="0" b="0"/>
          <a:stretch/>
        </p:blipFill>
        <p:spPr>
          <a:xfrm>
            <a:off x="812800" y="1752600"/>
            <a:ext cx="10566400" cy="3105150"/>
          </a:xfrm>
          <a:prstGeom prst="roundRect">
            <a:avLst>
              <a:gd name="adj" fmla="val 2454"/>
            </a:avLst>
          </a:prstGeom>
        </p:spPr>
      </p:pic>
      <p:sp>
        <p:nvSpPr>
          <p:cNvPr id="6" name="Text 3"/>
          <p:cNvSpPr/>
          <p:nvPr/>
        </p:nvSpPr>
        <p:spPr>
          <a:xfrm>
            <a:off x="812800" y="5060950"/>
            <a:ext cx="531088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53A"/>
                </a:solidFill>
                <a:latin typeface="IBM Plex Sans" pitchFamily="34" charset="0"/>
                <a:ea typeface="IBM Plex Sans" pitchFamily="34" charset="-122"/>
                <a:cs typeface="IBM Plex Sans" pitchFamily="34" charset="-120"/>
              </a:rPr>
              <a:t>Price rises faster than the shortage:</a:t>
            </a:r>
            <a:r>
              <a:rPr lang="en-US" sz="1400" dirty="0">
                <a:solidFill>
                  <a:srgbClr val="3F4B5A"/>
                </a:solidFill>
                <a:latin typeface="IBM Plex Sans" pitchFamily="34" charset="0"/>
                <a:ea typeface="IBM Plex Sans" pitchFamily="34" charset="-122"/>
                <a:cs typeface="IBM Plex Sans" pitchFamily="34" charset="-120"/>
              </a:rPr>
              <a:t> Hormuz fully closed ≈ </a:t>
            </a:r>
            <a:r>
              <a:rPr lang="en-US" sz="1400" b="1" dirty="0">
                <a:solidFill>
                  <a:srgbClr val="3F4B5A"/>
                </a:solidFill>
                <a:latin typeface="IBM Plex Sans" pitchFamily="34" charset="0"/>
                <a:ea typeface="IBM Plex Sans" pitchFamily="34" charset="-122"/>
                <a:cs typeface="IBM Plex Sans" pitchFamily="34" charset="-120"/>
              </a:rPr>
              <a:t>$236</a:t>
            </a:r>
            <a:r>
              <a:rPr lang="en-US" sz="1400" dirty="0">
                <a:solidFill>
                  <a:srgbClr val="3F4B5A"/>
                </a:solidFill>
                <a:latin typeface="IBM Plex Sans" pitchFamily="34" charset="0"/>
                <a:ea typeface="IBM Plex Sans" pitchFamily="34" charset="-122"/>
                <a:cs typeface="IBM Plex Sans" pitchFamily="34" charset="-120"/>
              </a:rPr>
              <a:t>; both straits closed ≈ </a:t>
            </a:r>
            <a:r>
              <a:rPr lang="en-US" sz="1400" b="1" dirty="0">
                <a:solidFill>
                  <a:srgbClr val="3F4B5A"/>
                </a:solidFill>
                <a:latin typeface="IBM Plex Sans" pitchFamily="34" charset="0"/>
                <a:ea typeface="IBM Plex Sans" pitchFamily="34" charset="-122"/>
                <a:cs typeface="IBM Plex Sans" pitchFamily="34" charset="-120"/>
              </a:rPr>
              <a:t>$338</a:t>
            </a:r>
            <a:r>
              <a:rPr lang="en-US" sz="1400" dirty="0">
                <a:solidFill>
                  <a:srgbClr val="3F4B5A"/>
                </a:solidFill>
                <a:latin typeface="IBM Plex Sans" pitchFamily="34" charset="0"/>
                <a:ea typeface="IBM Plex Sans" pitchFamily="34" charset="-122"/>
                <a:cs typeface="IBM Plex Sans" pitchFamily="34" charset="-120"/>
              </a:rPr>
              <a:t>.</a:t>
            </a:r>
            <a:endParaRPr lang="en-US" sz="1400" dirty="0"/>
          </a:p>
        </p:txBody>
      </p:sp>
      <p:sp>
        <p:nvSpPr>
          <p:cNvPr id="7" name="Text 4"/>
          <p:cNvSpPr/>
          <p:nvPr/>
        </p:nvSpPr>
        <p:spPr>
          <a:xfrm>
            <a:off x="6223000" y="5060950"/>
            <a:ext cx="531088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53A"/>
                </a:solidFill>
                <a:latin typeface="IBM Plex Sans" pitchFamily="34" charset="0"/>
                <a:ea typeface="IBM Plex Sans" pitchFamily="34" charset="-122"/>
                <a:cs typeface="IBM Plex Sans" pitchFamily="34" charset="-120"/>
              </a:rPr>
              <a:t>No reserves in these runs:</a:t>
            </a:r>
            <a:r>
              <a:rPr lang="en-US" sz="1400" dirty="0">
                <a:solidFill>
                  <a:srgbClr val="3F4B5A"/>
                </a:solidFill>
                <a:latin typeface="IBM Plex Sans" pitchFamily="34" charset="0"/>
                <a:ea typeface="IBM Plex Sans" pitchFamily="34" charset="-122"/>
                <a:cs typeface="IBM Plex Sans" pitchFamily="34" charset="-120"/>
              </a:rPr>
              <a:t> at the Q2 2026 star the model gives $143; with reserves $94; observed ≈ $105.</a:t>
            </a:r>
            <a:endParaRPr lang="en-US" sz="1400" dirty="0"/>
          </a:p>
        </p:txBody>
      </p:sp>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Price from Layer 2 (one world price, constant-elasticity demand) · CITS4403 · 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PRICE OVER TIME · NO RESERVES</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The price climbs for a month, then levels off</a:t>
            </a:r>
            <a:endParaRPr lang="en-US" sz="3200" dirty="0"/>
          </a:p>
        </p:txBody>
      </p:sp>
      <p:sp>
        <p:nvSpPr>
          <p:cNvPr id="4" name="Shape 2"/>
          <p:cNvSpPr/>
          <p:nvPr/>
        </p:nvSpPr>
        <p:spPr>
          <a:xfrm>
            <a:off x="812800" y="1803400"/>
            <a:ext cx="6096000" cy="3810000"/>
          </a:xfrm>
          <a:prstGeom prst="roundRect">
            <a:avLst>
              <a:gd name="adj" fmla="val 2000"/>
            </a:avLst>
          </a:prstGeom>
          <a:solidFill>
            <a:srgbClr val="FBF9F5"/>
          </a:solidFill>
          <a:ln/>
        </p:spPr>
      </p:sp>
      <p:pic>
        <p:nvPicPr>
          <p:cNvPr id="5" name="Image 0" descr="Price index over 240 days with no reserves: 40% closure stays at 1.0, 70% settles at 1.84, 100% settles at 3.42; observed 2026 level 1.52">    </p:cNvPr>
          <p:cNvPicPr>
            <a:picLocks noChangeAspect="1"/>
          </p:cNvPicPr>
          <p:nvPr/>
        </p:nvPicPr>
        <p:blipFill>
          <a:blip r:embed="rId1"/>
          <a:srcRect l="0" r="0" t="0" b="0"/>
          <a:stretch/>
        </p:blipFill>
        <p:spPr>
          <a:xfrm>
            <a:off x="812800" y="1803400"/>
            <a:ext cx="6096000" cy="3810000"/>
          </a:xfrm>
          <a:prstGeom prst="roundRect">
            <a:avLst>
              <a:gd name="adj" fmla="val 2000"/>
            </a:avLst>
          </a:prstGeom>
        </p:spPr>
      </p:pic>
      <p:sp>
        <p:nvSpPr>
          <p:cNvPr id="6" name="Text 3"/>
          <p:cNvSpPr/>
          <p:nvPr/>
        </p:nvSpPr>
        <p:spPr>
          <a:xfrm>
            <a:off x="7213600" y="2621285"/>
            <a:ext cx="42905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Price index 1.0 = $69</a:t>
            </a:r>
            <a:endParaRPr lang="en-US" sz="1500" dirty="0"/>
          </a:p>
        </p:txBody>
      </p:sp>
      <p:sp>
        <p:nvSpPr>
          <p:cNvPr id="7" name="Text 4"/>
          <p:cNvSpPr/>
          <p:nvPr/>
        </p:nvSpPr>
        <p:spPr>
          <a:xfrm>
            <a:off x="7213600" y="3040385"/>
            <a:ext cx="42905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40% closed → </a:t>
            </a:r>
            <a:r>
              <a:rPr lang="en-US" sz="1500" b="1" dirty="0">
                <a:solidFill>
                  <a:srgbClr val="13253A"/>
                </a:solidFill>
                <a:latin typeface="IBM Plex Sans" pitchFamily="34" charset="0"/>
                <a:ea typeface="IBM Plex Sans" pitchFamily="34" charset="-122"/>
                <a:cs typeface="IBM Plex Sans" pitchFamily="34" charset="-120"/>
              </a:rPr>
              <a:t>$69</a:t>
            </a:r>
            <a:r>
              <a:rPr lang="en-US" sz="1500" dirty="0">
                <a:solidFill>
                  <a:srgbClr val="3F4B5A"/>
                </a:solidFill>
                <a:latin typeface="IBM Plex Sans" pitchFamily="34" charset="0"/>
                <a:ea typeface="IBM Plex Sans" pitchFamily="34" charset="-122"/>
                <a:cs typeface="IBM Plex Sans" pitchFamily="34" charset="-120"/>
              </a:rPr>
              <a:t> (no change)</a:t>
            </a:r>
            <a:endParaRPr lang="en-US" sz="1500" dirty="0"/>
          </a:p>
        </p:txBody>
      </p:sp>
      <p:sp>
        <p:nvSpPr>
          <p:cNvPr id="8" name="Text 5"/>
          <p:cNvSpPr/>
          <p:nvPr/>
        </p:nvSpPr>
        <p:spPr>
          <a:xfrm>
            <a:off x="7213600" y="3459485"/>
            <a:ext cx="42905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70% closed → </a:t>
            </a:r>
            <a:r>
              <a:rPr lang="en-US" sz="1500" b="1" dirty="0">
                <a:solidFill>
                  <a:srgbClr val="13253A"/>
                </a:solidFill>
                <a:latin typeface="IBM Plex Sans" pitchFamily="34" charset="0"/>
                <a:ea typeface="IBM Plex Sans" pitchFamily="34" charset="-122"/>
                <a:cs typeface="IBM Plex Sans" pitchFamily="34" charset="-120"/>
              </a:rPr>
              <a:t>≈ $127</a:t>
            </a:r>
            <a:endParaRPr lang="en-US" sz="1500" dirty="0"/>
          </a:p>
        </p:txBody>
      </p:sp>
      <p:sp>
        <p:nvSpPr>
          <p:cNvPr id="9" name="Text 6"/>
          <p:cNvSpPr/>
          <p:nvPr/>
        </p:nvSpPr>
        <p:spPr>
          <a:xfrm>
            <a:off x="7213600" y="3878585"/>
            <a:ext cx="42905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100% closed → </a:t>
            </a:r>
            <a:r>
              <a:rPr lang="en-US" sz="1500" b="1" dirty="0">
                <a:solidFill>
                  <a:srgbClr val="13253A"/>
                </a:solidFill>
                <a:latin typeface="IBM Plex Sans" pitchFamily="34" charset="0"/>
                <a:ea typeface="IBM Plex Sans" pitchFamily="34" charset="-122"/>
                <a:cs typeface="IBM Plex Sans" pitchFamily="34" charset="-120"/>
              </a:rPr>
              <a:t>≈ $236</a:t>
            </a:r>
            <a:endParaRPr lang="en-US" sz="1500" dirty="0"/>
          </a:p>
        </p:txBody>
      </p:sp>
      <p:sp>
        <p:nvSpPr>
          <p:cNvPr id="10" name="Text 7"/>
          <p:cNvSpPr/>
          <p:nvPr/>
        </p:nvSpPr>
        <p:spPr>
          <a:xfrm>
            <a:off x="7213600" y="4297685"/>
            <a:ext cx="429056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5E6672"/>
                </a:solidFill>
                <a:latin typeface="IBM Plex Sans" pitchFamily="34" charset="0"/>
                <a:ea typeface="IBM Plex Sans" pitchFamily="34" charset="-122"/>
                <a:cs typeface="IBM Plex Sans" pitchFamily="34" charset="-120"/>
              </a:rPr>
              <a:t>Each day the price moves 12% of the way to the level where demand equals the oil available.</a:t>
            </a:r>
            <a:endParaRPr lang="en-US" sz="1400" dirty="0"/>
          </a:p>
        </p:txBody>
      </p:sp>
      <p:sp>
        <p:nvSpPr>
          <p:cNvPr id="11" name="Text 8"/>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price_dynamics.py · dashed line = observed 2026 ($105) · CITS4403 · 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Q4 · STRATEGIC RESERVES OVER TIME</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Reserves cushion the price, then run out</a:t>
            </a:r>
            <a:endParaRPr lang="en-US" sz="3200" dirty="0"/>
          </a:p>
        </p:txBody>
      </p:sp>
      <p:sp>
        <p:nvSpPr>
          <p:cNvPr id="4" name="Shape 2"/>
          <p:cNvSpPr/>
          <p:nvPr/>
        </p:nvSpPr>
        <p:spPr>
          <a:xfrm>
            <a:off x="812800" y="1752600"/>
            <a:ext cx="10566400" cy="3175000"/>
          </a:xfrm>
          <a:prstGeom prst="roundRect">
            <a:avLst>
              <a:gd name="adj" fmla="val 2400"/>
            </a:avLst>
          </a:prstGeom>
          <a:solidFill>
            <a:srgbClr val="F5F2EC"/>
          </a:solidFill>
          <a:ln/>
        </p:spPr>
      </p:sp>
      <p:pic>
        <p:nvPicPr>
          <p:cNvPr id="5" name="Image 0" descr="Left: total reserves remaining over 400 days at 50, 70 and 100% closure. Centre: Brent with regional reserves, stepping up when Other Asia's reserve runs out near day 167 and China's on day 350. Right: full closure with no reserves ($236), regional reserves ($151) and a pooled reserve ($81)">    </p:cNvPr>
          <p:cNvPicPr>
            <a:picLocks noChangeAspect="1"/>
          </p:cNvPicPr>
          <p:nvPr/>
        </p:nvPicPr>
        <p:blipFill>
          <a:blip r:embed="rId1"/>
          <a:srcRect l="0" r="0" t="-80" b="-80"/>
          <a:stretch/>
        </p:blipFill>
        <p:spPr>
          <a:xfrm>
            <a:off x="812800" y="1752600"/>
            <a:ext cx="10566400" cy="3175000"/>
          </a:xfrm>
          <a:prstGeom prst="roundRect">
            <a:avLst>
              <a:gd name="adj" fmla="val 2400"/>
            </a:avLst>
          </a:prstGeom>
        </p:spPr>
      </p:pic>
      <p:sp>
        <p:nvSpPr>
          <p:cNvPr id="6" name="Text 3"/>
          <p:cNvSpPr/>
          <p:nvPr/>
        </p:nvSpPr>
        <p:spPr>
          <a:xfrm>
            <a:off x="812800" y="5130800"/>
            <a:ext cx="531088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53A"/>
                </a:solidFill>
                <a:latin typeface="IBM Plex Sans" pitchFamily="34" charset="0"/>
                <a:ea typeface="IBM Plex Sans" pitchFamily="34" charset="-122"/>
                <a:cs typeface="IBM Plex Sans" pitchFamily="34" charset="-120"/>
              </a:rPr>
              <a:t>Centre:</a:t>
            </a:r>
            <a:r>
              <a:rPr lang="en-US" sz="1400" dirty="0">
                <a:solidFill>
                  <a:srgbClr val="3F4B5A"/>
                </a:solidFill>
                <a:latin typeface="IBM Plex Sans" pitchFamily="34" charset="0"/>
                <a:ea typeface="IBM Plex Sans" pitchFamily="34" charset="-122"/>
                <a:cs typeface="IBM Plex Sans" pitchFamily="34" charset="-120"/>
              </a:rPr>
              <a:t> the price jumps when a region's reserve runs out — Other Asia near day 167, China on day 350.</a:t>
            </a:r>
            <a:endParaRPr lang="en-US" sz="1400" dirty="0"/>
          </a:p>
        </p:txBody>
      </p:sp>
      <p:sp>
        <p:nvSpPr>
          <p:cNvPr id="7" name="Text 4"/>
          <p:cNvSpPr/>
          <p:nvPr/>
        </p:nvSpPr>
        <p:spPr>
          <a:xfrm>
            <a:off x="6223000" y="5130800"/>
            <a:ext cx="5310886" cy="523240"/>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53A"/>
                </a:solidFill>
                <a:latin typeface="IBM Plex Sans" pitchFamily="34" charset="0"/>
                <a:ea typeface="IBM Plex Sans" pitchFamily="34" charset="-122"/>
                <a:cs typeface="IBM Plex Sans" pitchFamily="34" charset="-120"/>
              </a:rPr>
              <a:t>Right, full closure:</a:t>
            </a:r>
            <a:r>
              <a:rPr lang="en-US" sz="1400" dirty="0">
                <a:solidFill>
                  <a:srgbClr val="3F4B5A"/>
                </a:solidFill>
                <a:latin typeface="IBM Plex Sans" pitchFamily="34" charset="0"/>
                <a:ea typeface="IBM Plex Sans" pitchFamily="34" charset="-122"/>
                <a:cs typeface="IBM Plex Sans" pitchFamily="34" charset="-120"/>
              </a:rPr>
              <a:t> no reserves $236 · regional $151 · one shared pool $81.</a:t>
            </a:r>
            <a:endParaRPr lang="en-US" sz="1400" dirty="0"/>
          </a:p>
        </p:txBody>
      </p:sp>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spr_depletion.py · 2,402 Mb in six regions · CITS4403 · 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Q5 · SHAPE OR CAPACITY?</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The shape is robust; the problem is volume</a:t>
            </a:r>
            <a:endParaRPr lang="en-US" sz="3200" dirty="0"/>
          </a:p>
        </p:txBody>
      </p:sp>
      <p:sp>
        <p:nvSpPr>
          <p:cNvPr id="4" name="Shape 2"/>
          <p:cNvSpPr/>
          <p:nvPr/>
        </p:nvSpPr>
        <p:spPr>
          <a:xfrm>
            <a:off x="812800" y="1752600"/>
            <a:ext cx="10566400" cy="3302000"/>
          </a:xfrm>
          <a:prstGeom prst="roundRect">
            <a:avLst>
              <a:gd name="adj" fmla="val 2308"/>
            </a:avLst>
          </a:prstGeom>
          <a:solidFill>
            <a:srgbClr val="FBF9F5"/>
          </a:solidFill>
          <a:ln/>
        </p:spPr>
      </p:sp>
      <p:pic>
        <p:nvPicPr>
          <p:cNvPr id="5" name="Image 0" descr="Left: betweenness — Malacca 0.31 and Cape 0.30 highest, Hormuz 0.03 lowest. Right: removing the most central chokepoint costs the real network 5.6% of capacity versus 12 to 24% for random graphs">    </p:cNvPr>
          <p:cNvPicPr>
            <a:picLocks noChangeAspect="1"/>
          </p:cNvPicPr>
          <p:nvPr/>
        </p:nvPicPr>
        <p:blipFill>
          <a:blip r:embed="rId1"/>
          <a:stretch>
            <a:fillRect/>
          </a:stretch>
        </p:blipFill>
        <p:spPr>
          <a:xfrm>
            <a:off x="1803400" y="1752600"/>
            <a:ext cx="8585200" cy="3302000"/>
          </a:xfrm>
          <a:prstGeom prst="rect">
            <a:avLst/>
          </a:prstGeom>
        </p:spPr>
      </p:pic>
      <p:sp>
        <p:nvSpPr>
          <p:cNvPr id="6" name="Text 3"/>
          <p:cNvSpPr/>
          <p:nvPr/>
        </p:nvSpPr>
        <p:spPr>
          <a:xfrm>
            <a:off x="812800" y="5257800"/>
            <a:ext cx="53108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By betweenness, Hormuz looks </a:t>
            </a:r>
            <a:r>
              <a:rPr lang="en-US" sz="1400" b="1" dirty="0">
                <a:solidFill>
                  <a:srgbClr val="3F4B5A"/>
                </a:solidFill>
                <a:latin typeface="IBM Plex Sans" pitchFamily="34" charset="0"/>
                <a:ea typeface="IBM Plex Sans" pitchFamily="34" charset="-122"/>
                <a:cs typeface="IBM Plex Sans" pitchFamily="34" charset="-120"/>
              </a:rPr>
              <a:t>least</a:t>
            </a:r>
            <a:r>
              <a:rPr lang="en-US" sz="1400" dirty="0">
                <a:solidFill>
                  <a:srgbClr val="3F4B5A"/>
                </a:solidFill>
                <a:latin typeface="IBM Plex Sans" pitchFamily="34" charset="0"/>
                <a:ea typeface="IBM Plex Sans" pitchFamily="34" charset="-122"/>
                <a:cs typeface="IBM Plex Sans" pitchFamily="34" charset="-120"/>
              </a:rPr>
              <a:t> important (0.03) — it serves one exporter that has other exits.</a:t>
            </a:r>
            <a:endParaRPr lang="en-US" sz="1400" dirty="0"/>
          </a:p>
        </p:txBody>
      </p:sp>
      <p:sp>
        <p:nvSpPr>
          <p:cNvPr id="7" name="Text 4"/>
          <p:cNvSpPr/>
          <p:nvPr/>
        </p:nvSpPr>
        <p:spPr>
          <a:xfrm>
            <a:off x="6223000" y="5257800"/>
            <a:ext cx="5310886"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The real network loses </a:t>
            </a:r>
            <a:r>
              <a:rPr lang="en-US" sz="1400" b="1" dirty="0">
                <a:solidFill>
                  <a:srgbClr val="3F4B5A"/>
                </a:solidFill>
                <a:latin typeface="IBM Plex Sans" pitchFamily="34" charset="0"/>
                <a:ea typeface="IBM Plex Sans" pitchFamily="34" charset="-122"/>
                <a:cs typeface="IBM Plex Sans" pitchFamily="34" charset="-120"/>
              </a:rPr>
              <a:t>5.6%</a:t>
            </a:r>
            <a:r>
              <a:rPr lang="en-US" sz="1400" dirty="0">
                <a:solidFill>
                  <a:srgbClr val="3F4B5A"/>
                </a:solidFill>
                <a:latin typeface="IBM Plex Sans" pitchFamily="34" charset="0"/>
                <a:ea typeface="IBM Plex Sans" pitchFamily="34" charset="-122"/>
                <a:cs typeface="IBM Plex Sans" pitchFamily="34" charset="-120"/>
              </a:rPr>
              <a:t> of capacity vs </a:t>
            </a:r>
            <a:r>
              <a:rPr lang="en-US" sz="1400" b="1" dirty="0">
                <a:solidFill>
                  <a:srgbClr val="3F4B5A"/>
                </a:solidFill>
                <a:latin typeface="IBM Plex Sans" pitchFamily="34" charset="0"/>
                <a:ea typeface="IBM Plex Sans" pitchFamily="34" charset="-122"/>
                <a:cs typeface="IBM Plex Sans" pitchFamily="34" charset="-120"/>
              </a:rPr>
              <a:t>12–24%</a:t>
            </a:r>
            <a:r>
              <a:rPr lang="en-US" sz="1400" dirty="0">
                <a:solidFill>
                  <a:srgbClr val="3F4B5A"/>
                </a:solidFill>
                <a:latin typeface="IBM Plex Sans" pitchFamily="34" charset="0"/>
                <a:ea typeface="IBM Plex Sans" pitchFamily="34" charset="-122"/>
                <a:cs typeface="IBM Plex Sans" pitchFamily="34" charset="-120"/>
              </a:rPr>
              <a:t> for Erdős–Rényi, Watts–Strogatz, Barabási–Albert and rewired graphs.</a:t>
            </a:r>
            <a:endParaRPr lang="en-US" sz="1400" dirty="0"/>
          </a:p>
        </p:txBody>
      </p:sp>
      <p:sp>
        <p:nvSpPr>
          <p:cNvPr id="8" name="Text 5"/>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200 random graphs of each type, same 22 nodes and 39 edges · CITS4403 · 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9F5"/>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3A8C"/>
                </a:solidFill>
                <a:latin typeface="IBM Plex Sans" pitchFamily="34" charset="0"/>
                <a:ea typeface="IBM Plex Sans" pitchFamily="34" charset="-122"/>
                <a:cs typeface="IBM Plex Sans" pitchFamily="34" charset="-120"/>
              </a:rPr>
              <a:t>Q6 · EXTENSION: PRICE FEEDBACK</a:t>
            </a:r>
            <a:endParaRPr lang="en-US" sz="1200" dirty="0"/>
          </a:p>
        </p:txBody>
      </p:sp>
      <p:sp>
        <p:nvSpPr>
          <p:cNvPr id="3" name="Text 1"/>
          <p:cNvSpPr/>
          <p:nvPr>
            <p:ph type="title"/>
          </p:nvPr>
        </p:nvSpPr>
        <p:spPr>
          <a:xfrm>
            <a:off x="812800" y="1102358"/>
            <a:ext cx="10883392" cy="91948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When prices spread the pain, the threshold rises to 64%</a:t>
            </a:r>
            <a:endParaRPr lang="en-US" sz="3200" dirty="0"/>
          </a:p>
        </p:txBody>
      </p:sp>
      <p:sp>
        <p:nvSpPr>
          <p:cNvPr id="4" name="Shape 2"/>
          <p:cNvSpPr/>
          <p:nvPr/>
        </p:nvSpPr>
        <p:spPr>
          <a:xfrm>
            <a:off x="812800" y="2250442"/>
            <a:ext cx="6096000" cy="3384550"/>
          </a:xfrm>
          <a:prstGeom prst="roundRect">
            <a:avLst>
              <a:gd name="adj" fmla="val 2251"/>
            </a:avLst>
          </a:prstGeom>
          <a:solidFill>
            <a:srgbClr val="F5F2EC"/>
          </a:solidFill>
          <a:ln/>
        </p:spPr>
      </p:sp>
      <p:pic>
        <p:nvPicPr>
          <p:cNvPr id="5" name="Image 0" descr="Worst region's loss against closure: main model crosses 10% at 53%, with price feedback at 64%; at full closure 89% versus 23%">    </p:cNvPr>
          <p:cNvPicPr>
            <a:picLocks noChangeAspect="1"/>
          </p:cNvPicPr>
          <p:nvPr/>
        </p:nvPicPr>
        <p:blipFill>
          <a:blip r:embed="rId1"/>
          <a:srcRect l="-31" r="-31" t="0" b="0"/>
          <a:stretch/>
        </p:blipFill>
        <p:spPr>
          <a:xfrm>
            <a:off x="812800" y="2250442"/>
            <a:ext cx="6096000" cy="3384550"/>
          </a:xfrm>
          <a:prstGeom prst="roundRect">
            <a:avLst>
              <a:gd name="adj" fmla="val 2251"/>
            </a:avLst>
          </a:prstGeom>
        </p:spPr>
      </p:pic>
      <p:sp>
        <p:nvSpPr>
          <p:cNvPr id="6" name="Text 3"/>
          <p:cNvSpPr/>
          <p:nvPr/>
        </p:nvSpPr>
        <p:spPr>
          <a:xfrm>
            <a:off x="7213600" y="3123567"/>
            <a:ext cx="429056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High price → every region buys up to </a:t>
            </a:r>
            <a:r>
              <a:rPr lang="en-US" sz="1500" b="1" dirty="0">
                <a:solidFill>
                  <a:srgbClr val="3F4B5A"/>
                </a:solidFill>
                <a:latin typeface="IBM Plex Sans" pitchFamily="34" charset="0"/>
                <a:ea typeface="IBM Plex Sans" pitchFamily="34" charset="-122"/>
                <a:cs typeface="IBM Plex Sans" pitchFamily="34" charset="-120"/>
              </a:rPr>
              <a:t>20%</a:t>
            </a:r>
            <a:r>
              <a:rPr lang="en-US" sz="1500" dirty="0">
                <a:solidFill>
                  <a:srgbClr val="3F4B5A"/>
                </a:solidFill>
                <a:latin typeface="IBM Plex Sans" pitchFamily="34" charset="0"/>
                <a:ea typeface="IBM Plex Sans" pitchFamily="34" charset="-122"/>
                <a:cs typeface="IBM Plex Sans" pitchFamily="34" charset="-120"/>
              </a:rPr>
              <a:t> less → that oil is re-routed to others.</a:t>
            </a:r>
            <a:endParaRPr lang="en-US" sz="1500" dirty="0"/>
          </a:p>
        </p:txBody>
      </p:sp>
      <p:sp>
        <p:nvSpPr>
          <p:cNvPr id="7" name="Text 4"/>
          <p:cNvSpPr/>
          <p:nvPr/>
        </p:nvSpPr>
        <p:spPr>
          <a:xfrm>
            <a:off x="7213600" y="3809367"/>
            <a:ext cx="4290568"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Worst loss at full closure: </a:t>
            </a:r>
            <a:r>
              <a:rPr lang="en-US" sz="1500" b="1" dirty="0">
                <a:solidFill>
                  <a:srgbClr val="3F4B5A"/>
                </a:solidFill>
                <a:latin typeface="IBM Plex Sans" pitchFamily="34" charset="0"/>
                <a:ea typeface="IBM Plex Sans" pitchFamily="34" charset="-122"/>
                <a:cs typeface="IBM Plex Sans" pitchFamily="34" charset="-120"/>
              </a:rPr>
              <a:t>89% → 23%</a:t>
            </a:r>
            <a:endParaRPr lang="en-US" sz="1500" dirty="0"/>
          </a:p>
        </p:txBody>
      </p:sp>
      <p:sp>
        <p:nvSpPr>
          <p:cNvPr id="8" name="Text 5"/>
          <p:cNvSpPr/>
          <p:nvPr/>
        </p:nvSpPr>
        <p:spPr>
          <a:xfrm>
            <a:off x="7213600" y="4228467"/>
            <a:ext cx="4290568"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3F4B5A"/>
                </a:solidFill>
                <a:latin typeface="IBM Plex Sans" pitchFamily="34" charset="0"/>
                <a:ea typeface="IBM Plex Sans" pitchFamily="34" charset="-122"/>
                <a:cs typeface="IBM Plex Sans" pitchFamily="34" charset="-120"/>
              </a:rPr>
              <a:t>Takes about a month: </a:t>
            </a:r>
            <a:r>
              <a:rPr lang="en-US" sz="1500" b="1" dirty="0">
                <a:solidFill>
                  <a:srgbClr val="3F4B5A"/>
                </a:solidFill>
                <a:latin typeface="IBM Plex Sans" pitchFamily="34" charset="0"/>
                <a:ea typeface="IBM Plex Sans" pitchFamily="34" charset="-122"/>
                <a:cs typeface="IBM Plex Sans" pitchFamily="34" charset="-120"/>
              </a:rPr>
              <a:t>53%</a:t>
            </a:r>
            <a:r>
              <a:rPr lang="en-US" sz="1500" dirty="0">
                <a:solidFill>
                  <a:srgbClr val="3F4B5A"/>
                </a:solidFill>
                <a:latin typeface="IBM Plex Sans" pitchFamily="34" charset="0"/>
                <a:ea typeface="IBM Plex Sans" pitchFamily="34" charset="-122"/>
                <a:cs typeface="IBM Plex Sans" pitchFamily="34" charset="-120"/>
              </a:rPr>
              <a:t> is the first weeks, </a:t>
            </a:r>
            <a:r>
              <a:rPr lang="en-US" sz="1500" b="1" dirty="0">
                <a:solidFill>
                  <a:srgbClr val="3F4B5A"/>
                </a:solidFill>
                <a:latin typeface="IBM Plex Sans" pitchFamily="34" charset="0"/>
                <a:ea typeface="IBM Plex Sans" pitchFamily="34" charset="-122"/>
                <a:cs typeface="IBM Plex Sans" pitchFamily="34" charset="-120"/>
              </a:rPr>
              <a:t>64%</a:t>
            </a:r>
            <a:r>
              <a:rPr lang="en-US" sz="1500" dirty="0">
                <a:solidFill>
                  <a:srgbClr val="3F4B5A"/>
                </a:solidFill>
                <a:latin typeface="IBM Plex Sans" pitchFamily="34" charset="0"/>
                <a:ea typeface="IBM Plex Sans" pitchFamily="34" charset="-122"/>
                <a:cs typeface="IBM Plex Sans" pitchFamily="34" charset="-120"/>
              </a:rPr>
              <a:t> once markets adjust.</a:t>
            </a:r>
            <a:endParaRPr lang="en-US" sz="1500" dirty="0"/>
          </a:p>
        </p:txBody>
      </p:sp>
      <p:sp>
        <p:nvSpPr>
          <p:cNvPr id="9" name="Text 6"/>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Cap tested at 10, 20, 30%: threshold 69.1, 63.9, 63.9% · CITS4403 · 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2EC"/>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96560A"/>
                </a:solidFill>
                <a:latin typeface="IBM Plex Sans" pitchFamily="34" charset="0"/>
                <a:ea typeface="IBM Plex Sans" pitchFamily="34" charset="-122"/>
                <a:cs typeface="IBM Plex Sans" pitchFamily="34" charset="-120"/>
              </a:rPr>
              <a:t>IS IT RIGHT?</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13253A"/>
                </a:solidFill>
                <a:latin typeface="Source Serif 4" pitchFamily="18" charset="0"/>
                <a:ea typeface="Source Serif 4" pitchFamily="18" charset="-122"/>
                <a:cs typeface="Source Serif 4" pitchFamily="18" charset="-120"/>
              </a:rPr>
              <a:t>Right direction, honest limits</a:t>
            </a:r>
            <a:endParaRPr lang="en-US" sz="3200" dirty="0"/>
          </a:p>
        </p:txBody>
      </p:sp>
      <p:sp>
        <p:nvSpPr>
          <p:cNvPr id="4" name="Shape 2"/>
          <p:cNvSpPr/>
          <p:nvPr/>
        </p:nvSpPr>
        <p:spPr>
          <a:xfrm>
            <a:off x="812800" y="1854200"/>
            <a:ext cx="5156200" cy="2329180"/>
          </a:xfrm>
          <a:prstGeom prst="roundRect">
            <a:avLst>
              <a:gd name="adj" fmla="val 3272"/>
            </a:avLst>
          </a:prstGeom>
          <a:solidFill>
            <a:srgbClr val="FBF9F5"/>
          </a:solidFill>
          <a:ln/>
        </p:spPr>
      </p:sp>
      <p:sp>
        <p:nvSpPr>
          <p:cNvPr id="5" name="Shape 3"/>
          <p:cNvSpPr/>
          <p:nvPr/>
        </p:nvSpPr>
        <p:spPr>
          <a:xfrm>
            <a:off x="812800" y="1854200"/>
            <a:ext cx="5156200" cy="2329180"/>
          </a:xfrm>
          <a:custGeom>
            <a:avLst/>
            <a:gdLst/>
            <a:ahLst/>
            <a:cxnLst/>
            <a:rect l="l" t="t" r="r" b="b"/>
            <a:pathLst>
              <a:path w="5156200" h="2329180">
                <a:moveTo>
                  <a:pt x="0" y="76200"/>
                </a:moveTo>
                <a:lnTo>
                  <a:pt x="0" y="76200"/>
                </a:lnTo>
                <a:arcTo hR="76200" wR="76200" stAng="10800000" swAng="5400000"/>
                <a:lnTo>
                  <a:pt x="5080000" y="0"/>
                </a:lnTo>
                <a:arcTo hR="76200" wR="76200" stAng="16200000" swAng="5400000"/>
                <a:lnTo>
                  <a:pt x="5156200" y="76200"/>
                </a:lnTo>
                <a:arcTo hR="38100" wR="76200" stAng="0" swAng="-5400000"/>
                <a:lnTo>
                  <a:pt x="76200" y="38100"/>
                </a:lnTo>
                <a:arcTo hR="38100" wR="76200" stAng="16200000" swAng="-5400000"/>
                <a:close/>
              </a:path>
            </a:pathLst>
          </a:custGeom>
          <a:solidFill>
            <a:srgbClr val="2B6CB0"/>
          </a:solidFill>
          <a:ln/>
        </p:spPr>
      </p:sp>
      <p:sp>
        <p:nvSpPr>
          <p:cNvPr id="6" name="Text 4"/>
          <p:cNvSpPr/>
          <p:nvPr/>
        </p:nvSpPr>
        <p:spPr>
          <a:xfrm>
            <a:off x="1117600" y="2197100"/>
            <a:ext cx="468299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53A"/>
                </a:solidFill>
                <a:latin typeface="Source Serif 4" pitchFamily="18" charset="0"/>
                <a:ea typeface="Source Serif 4" pitchFamily="18" charset="-122"/>
                <a:cs typeface="Source Serif 4" pitchFamily="18" charset="-120"/>
              </a:rPr>
              <a:t>Checked against 2026</a:t>
            </a:r>
            <a:endParaRPr lang="en-US" sz="2000" dirty="0"/>
          </a:p>
        </p:txBody>
      </p:sp>
      <p:sp>
        <p:nvSpPr>
          <p:cNvPr id="7" name="Text 5"/>
          <p:cNvSpPr/>
          <p:nvPr/>
        </p:nvSpPr>
        <p:spPr>
          <a:xfrm>
            <a:off x="1117600" y="2628900"/>
            <a:ext cx="468299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Price: model gives </a:t>
            </a:r>
            <a:r>
              <a:rPr lang="en-US" sz="1400" b="1" dirty="0">
                <a:solidFill>
                  <a:srgbClr val="3F4B5A"/>
                </a:solidFill>
                <a:latin typeface="IBM Plex Sans" pitchFamily="34" charset="0"/>
                <a:ea typeface="IBM Plex Sans" pitchFamily="34" charset="-122"/>
                <a:cs typeface="IBM Plex Sans" pitchFamily="34" charset="-120"/>
              </a:rPr>
              <a:t>$94–$143</a:t>
            </a:r>
            <a:r>
              <a:rPr lang="en-US" sz="1400" dirty="0">
                <a:solidFill>
                  <a:srgbClr val="3F4B5A"/>
                </a:solidFill>
                <a:latin typeface="IBM Plex Sans" pitchFamily="34" charset="0"/>
                <a:ea typeface="IBM Plex Sans" pitchFamily="34" charset="-122"/>
                <a:cs typeface="IBM Plex Sans" pitchFamily="34" charset="-120"/>
              </a:rPr>
              <a:t> (with / without reserves); real Brent was </a:t>
            </a:r>
            <a:r>
              <a:rPr lang="en-US" sz="1400" b="1" dirty="0">
                <a:solidFill>
                  <a:srgbClr val="3F4B5A"/>
                </a:solidFill>
                <a:latin typeface="IBM Plex Sans" pitchFamily="34" charset="0"/>
                <a:ea typeface="IBM Plex Sans" pitchFamily="34" charset="-122"/>
                <a:cs typeface="IBM Plex Sans" pitchFamily="34" charset="-120"/>
              </a:rPr>
              <a:t>~$105</a:t>
            </a:r>
            <a:r>
              <a:rPr lang="en-US" sz="1400" dirty="0">
                <a:solidFill>
                  <a:srgbClr val="3F4B5A"/>
                </a:solidFill>
                <a:latin typeface="IBM Plex Sans" pitchFamily="34" charset="0"/>
                <a:ea typeface="IBM Plex Sans" pitchFamily="34" charset="-122"/>
                <a:cs typeface="IBM Plex Sans" pitchFamily="34" charset="-120"/>
              </a:rPr>
              <a:t> — inside the range.</a:t>
            </a:r>
            <a:endParaRPr lang="en-US" sz="1400" dirty="0"/>
          </a:p>
        </p:txBody>
      </p:sp>
      <p:sp>
        <p:nvSpPr>
          <p:cNvPr id="8" name="Text 6"/>
          <p:cNvSpPr/>
          <p:nvPr/>
        </p:nvSpPr>
        <p:spPr>
          <a:xfrm>
            <a:off x="1117600" y="3253742"/>
            <a:ext cx="468299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Rerouting goes the right way but is too small: Bab el-Mandeb 7.0 vs 8.1, Malacca 9.9 vs 16.6 mb/d.</a:t>
            </a:r>
            <a:endParaRPr lang="en-US" sz="1400" dirty="0"/>
          </a:p>
        </p:txBody>
      </p:sp>
      <p:sp>
        <p:nvSpPr>
          <p:cNvPr id="9" name="Shape 7"/>
          <p:cNvSpPr/>
          <p:nvPr/>
        </p:nvSpPr>
        <p:spPr>
          <a:xfrm>
            <a:off x="6223000" y="1854200"/>
            <a:ext cx="5156200" cy="2329180"/>
          </a:xfrm>
          <a:prstGeom prst="roundRect">
            <a:avLst>
              <a:gd name="adj" fmla="val 3272"/>
            </a:avLst>
          </a:prstGeom>
          <a:solidFill>
            <a:srgbClr val="FBF9F5"/>
          </a:solidFill>
          <a:ln/>
        </p:spPr>
      </p:sp>
      <p:sp>
        <p:nvSpPr>
          <p:cNvPr id="10" name="Shape 8"/>
          <p:cNvSpPr/>
          <p:nvPr/>
        </p:nvSpPr>
        <p:spPr>
          <a:xfrm>
            <a:off x="6223000" y="1854200"/>
            <a:ext cx="5156200" cy="2329180"/>
          </a:xfrm>
          <a:custGeom>
            <a:avLst/>
            <a:gdLst/>
            <a:ahLst/>
            <a:cxnLst/>
            <a:rect l="l" t="t" r="r" b="b"/>
            <a:pathLst>
              <a:path w="5156200" h="2329180">
                <a:moveTo>
                  <a:pt x="0" y="76200"/>
                </a:moveTo>
                <a:lnTo>
                  <a:pt x="0" y="76200"/>
                </a:lnTo>
                <a:arcTo hR="76200" wR="76200" stAng="10800000" swAng="5400000"/>
                <a:lnTo>
                  <a:pt x="5080000" y="0"/>
                </a:lnTo>
                <a:arcTo hR="76200" wR="76200" stAng="16200000" swAng="5400000"/>
                <a:lnTo>
                  <a:pt x="5156200" y="76200"/>
                </a:lnTo>
                <a:arcTo hR="38100" wR="76200" stAng="0" swAng="-5400000"/>
                <a:lnTo>
                  <a:pt x="76200" y="38100"/>
                </a:lnTo>
                <a:arcTo hR="38100" wR="76200" stAng="16200000" swAng="-5400000"/>
                <a:close/>
              </a:path>
            </a:pathLst>
          </a:custGeom>
          <a:solidFill>
            <a:srgbClr val="C1272D"/>
          </a:solidFill>
          <a:ln/>
        </p:spPr>
      </p:sp>
      <p:sp>
        <p:nvSpPr>
          <p:cNvPr id="11" name="Text 9"/>
          <p:cNvSpPr/>
          <p:nvPr/>
        </p:nvSpPr>
        <p:spPr>
          <a:xfrm>
            <a:off x="6527800" y="2197100"/>
            <a:ext cx="468299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3253A"/>
                </a:solidFill>
                <a:latin typeface="Source Serif 4" pitchFamily="18" charset="0"/>
                <a:ea typeface="Source Serif 4" pitchFamily="18" charset="-122"/>
                <a:cs typeface="Source Serif 4" pitchFamily="18" charset="-120"/>
              </a:rPr>
              <a:t>Limits</a:t>
            </a:r>
            <a:endParaRPr lang="en-US" sz="2000" dirty="0"/>
          </a:p>
        </p:txBody>
      </p:sp>
      <p:sp>
        <p:nvSpPr>
          <p:cNvPr id="12" name="Text 10"/>
          <p:cNvSpPr/>
          <p:nvPr/>
        </p:nvSpPr>
        <p:spPr>
          <a:xfrm>
            <a:off x="6527800" y="2628900"/>
            <a:ext cx="468299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Simple greedy routing, not a full market</a:t>
            </a:r>
            <a:endParaRPr lang="en-US" sz="1400" dirty="0"/>
          </a:p>
        </p:txBody>
      </p:sp>
      <p:sp>
        <p:nvSpPr>
          <p:cNvPr id="13" name="Text 11"/>
          <p:cNvSpPr/>
          <p:nvPr/>
        </p:nvSpPr>
        <p:spPr>
          <a:xfrm>
            <a:off x="6527800" y="3004815"/>
            <a:ext cx="4682998" cy="27432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No refined products or crude grades</a:t>
            </a:r>
            <a:endParaRPr lang="en-US" sz="1400" dirty="0"/>
          </a:p>
        </p:txBody>
      </p:sp>
      <p:sp>
        <p:nvSpPr>
          <p:cNvPr id="14" name="Text 12"/>
          <p:cNvSpPr/>
          <p:nvPr/>
        </p:nvSpPr>
        <p:spPr>
          <a:xfrm>
            <a:off x="6527800" y="3380742"/>
            <a:ext cx="4682998" cy="52324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3F4B5A"/>
                </a:solidFill>
                <a:latin typeface="IBM Plex Sans" pitchFamily="34" charset="0"/>
                <a:ea typeface="IBM Plex Sans" pitchFamily="34" charset="-122"/>
                <a:cs typeface="IBM Plex Sans" pitchFamily="34" charset="-120"/>
              </a:rPr>
              <a:t>Some parameters assumed; the threshold is an estimate (38–56% across model versions)</a:t>
            </a:r>
            <a:endParaRPr lang="en-US" sz="1400" dirty="0"/>
          </a:p>
        </p:txBody>
      </p:sp>
      <p:sp>
        <p:nvSpPr>
          <p:cNvPr id="15" name="Text 13"/>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672"/>
                </a:solidFill>
                <a:latin typeface="IBM Plex Sans" pitchFamily="34" charset="0"/>
                <a:ea typeface="IBM Plex Sans" pitchFamily="34" charset="-122"/>
                <a:cs typeface="IBM Plex Sans" pitchFamily="34" charset="-120"/>
              </a:rPr>
              <a:t>CITS4403 · 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3253A"/>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E8A046"/>
                </a:solidFill>
                <a:latin typeface="IBM Plex Sans" pitchFamily="34" charset="0"/>
                <a:ea typeface="IBM Plex Sans" pitchFamily="34" charset="-122"/>
                <a:cs typeface="IBM Plex Sans" pitchFamily="34" charset="-120"/>
              </a:rPr>
              <a:t>THE ANSWERS</a:t>
            </a:r>
            <a:endParaRPr lang="en-US" sz="1200" dirty="0"/>
          </a:p>
        </p:txBody>
      </p:sp>
      <p:sp>
        <p:nvSpPr>
          <p:cNvPr id="3" name="Text 1"/>
          <p:cNvSpPr/>
          <p:nvPr>
            <p:ph type="title"/>
          </p:nvPr>
        </p:nvSpPr>
        <p:spPr>
          <a:xfrm>
            <a:off x="812800" y="1102358"/>
            <a:ext cx="10883392" cy="472440"/>
          </a:xfrm>
          <a:prstGeom prst="rect">
            <a:avLst/>
          </a:prstGeom>
          <a:noFill/>
          <a:ln/>
        </p:spPr>
        <p:txBody>
          <a:bodyPr wrap="square" lIns="0" tIns="0" rIns="0" bIns="0" rtlCol="0" anchor="t">
            <a:normAutofit/>
          </a:bodyPr>
          <a:lstStyle/>
          <a:p>
            <a:pPr algn="l" indent="0" marL="0">
              <a:lnSpc>
                <a:spcPts val="3520"/>
              </a:lnSpc>
              <a:buNone/>
            </a:pPr>
            <a:r>
              <a:rPr lang="en-US" sz="3200" b="1" i="0" dirty="0">
                <a:solidFill>
                  <a:srgbClr val="F5F2EC"/>
                </a:solidFill>
                <a:latin typeface="Source Serif 4" pitchFamily="18" charset="0"/>
                <a:ea typeface="Source Serif 4" pitchFamily="18" charset="-122"/>
                <a:cs typeface="Source Serif 4" pitchFamily="18" charset="-120"/>
              </a:rPr>
              <a:t>Six questions, six answers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100"/>
          <a:ext cx="10553700" cy="2476500"/>
        </p:xfrm>
        <a:graphic>
          <a:graphicData uri="http://schemas.openxmlformats.org/drawingml/2006/table">
            <a:tbl>
              <a:tblPr/>
              <a:tblGrid>
                <a:gridCol w="949833"/>
                <a:gridCol w="9603867"/>
              </a:tblGrid>
              <a:tr h="412750">
                <a:tc>
                  <a:txBody>
                    <a:bodyPr/>
                    <a:lstStyle/>
                    <a:p>
                      <a:pPr indent="0" marL="0">
                        <a:lnSpc>
                          <a:spcPts val="2100"/>
                        </a:lnSpc>
                        <a:buNone/>
                      </a:pPr>
                      <a:r>
                        <a:rPr lang="en-US" sz="1500" b="1" dirty="0">
                          <a:solidFill>
                            <a:srgbClr val="E8A046"/>
                          </a:solidFill>
                          <a:latin typeface="IBM Plex Sans" pitchFamily="34" charset="0"/>
                          <a:ea typeface="IBM Plex Sans" pitchFamily="34" charset="-122"/>
                          <a:cs typeface="IBM Plex Sans" pitchFamily="34" charset="-120"/>
                        </a:rPr>
                        <a:t>Q1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65463"/>
                      </a:solidFill>
                      <a:prstDash val="solid"/>
                      <a:round/>
                      <a:headEnd type="none" w="med" len="med"/>
                      <a:tailEnd type="none" w="med" len="med"/>
                    </a:lnL>
                    <a:lnR w="12700" cap="flat" cmpd="sng" algn="ctr">
                      <a:solidFill>
                        <a:srgbClr val="54616F"/>
                      </a:solidFill>
                      <a:prstDash val="solid"/>
                      <a:round/>
                      <a:headEnd type="none" w="med" len="med"/>
                      <a:tailEnd type="none" w="med" len="med"/>
                    </a:lnR>
                    <a:lnT w="12700" cap="flat" cmpd="sng" algn="ctr">
                      <a:solidFill>
                        <a:srgbClr val="465463"/>
                      </a:solidFill>
                      <a:prstDash val="solid"/>
                      <a:round/>
                      <a:headEnd type="none" w="med" len="med"/>
                      <a:tailEnd type="none" w="med" len="med"/>
                    </a:lnT>
                    <a:lnB w="12700" cap="flat" cmpd="sng" algn="ctr">
                      <a:solidFill>
                        <a:srgbClr val="54616F"/>
                      </a:solidFill>
                      <a:prstDash val="solid"/>
                      <a:round/>
                      <a:headEnd type="none" w="med" len="med"/>
                      <a:tailEnd type="none" w="med" len="med"/>
                    </a:lnB>
                    <a:solidFill>
                      <a:srgbClr val="253649"/>
                    </a:solidFill>
                  </a:tcPr>
                </a:tc>
                <a:tc>
                  <a:txBody>
                    <a:bodyPr/>
                    <a:lstStyle/>
                    <a:p>
                      <a:pPr indent="0" marL="0">
                        <a:lnSpc>
                          <a:spcPts val="2100"/>
                        </a:lnSpc>
                        <a:buNone/>
                      </a:pPr>
                      <a:r>
                        <a:rPr lang="en-US" sz="1500" b="1" dirty="0">
                          <a:solidFill>
                            <a:srgbClr val="F5F2EC"/>
                          </a:solidFill>
                          <a:latin typeface="IBM Plex Sans" pitchFamily="34" charset="0"/>
                          <a:ea typeface="IBM Plex Sans" pitchFamily="34" charset="-122"/>
                          <a:cs typeface="IBM Plex Sans" pitchFamily="34" charset="-120"/>
                        </a:rPr>
                        <a:t>Yes: a region turns systemic at 53% of Hormuz closed</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54616F"/>
                      </a:solidFill>
                      <a:prstDash val="solid"/>
                      <a:round/>
                      <a:headEnd type="none" w="med" len="med"/>
                      <a:tailEnd type="none" w="med" len="med"/>
                    </a:lnL>
                    <a:lnR w="12700" cap="flat" cmpd="sng" algn="ctr">
                      <a:solidFill>
                        <a:srgbClr val="54616F"/>
                      </a:solidFill>
                      <a:prstDash val="solid"/>
                      <a:round/>
                      <a:headEnd type="none" w="med" len="med"/>
                      <a:tailEnd type="none" w="med" len="med"/>
                    </a:lnR>
                    <a:lnT w="12700" cap="flat" cmpd="sng" algn="ctr">
                      <a:solidFill>
                        <a:srgbClr val="465463"/>
                      </a:solidFill>
                      <a:prstDash val="solid"/>
                      <a:round/>
                      <a:headEnd type="none" w="med" len="med"/>
                      <a:tailEnd type="none" w="med" len="med"/>
                    </a:lnT>
                    <a:lnB w="12700" cap="flat" cmpd="sng" algn="ctr">
                      <a:solidFill>
                        <a:srgbClr val="54616F"/>
                      </a:solidFill>
                      <a:prstDash val="solid"/>
                      <a:round/>
                      <a:headEnd type="none" w="med" len="med"/>
                      <a:tailEnd type="none" w="med" len="med"/>
                    </a:lnB>
                    <a:solidFill>
                      <a:srgbClr val="253649"/>
                    </a:solidFill>
                  </a:tcPr>
                </a:tc>
              </a:tr>
              <a:tr h="412750">
                <a:tc>
                  <a:txBody>
                    <a:bodyPr/>
                    <a:lstStyle/>
                    <a:p>
                      <a:pPr indent="0" marL="0">
                        <a:lnSpc>
                          <a:spcPts val="2100"/>
                        </a:lnSpc>
                        <a:buNone/>
                      </a:pPr>
                      <a:r>
                        <a:rPr lang="en-US" sz="1500" dirty="0">
                          <a:solidFill>
                            <a:srgbClr val="E8A046"/>
                          </a:solidFill>
                          <a:latin typeface="IBM Plex Sans" pitchFamily="34" charset="0"/>
                          <a:ea typeface="IBM Plex Sans" pitchFamily="34" charset="-122"/>
                          <a:cs typeface="IBM Plex Sans" pitchFamily="34" charset="-120"/>
                        </a:rPr>
                        <a:t>Q2</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65463"/>
                      </a:solidFill>
                      <a:prstDash val="solid"/>
                      <a:round/>
                      <a:headEnd type="none" w="med" len="med"/>
                      <a:tailEnd type="none" w="med" len="med"/>
                    </a:lnL>
                    <a:lnR w="12700" cap="flat" cmpd="sng" algn="ctr">
                      <a:solidFill>
                        <a:srgbClr val="465463"/>
                      </a:solidFill>
                      <a:prstDash val="solid"/>
                      <a:round/>
                      <a:headEnd type="none" w="med" len="med"/>
                      <a:tailEnd type="none" w="med" len="med"/>
                    </a:lnR>
                    <a:lnT w="12700" cap="flat" cmpd="sng" algn="ctr">
                      <a:solidFill>
                        <a:srgbClr val="54616F"/>
                      </a:solidFill>
                      <a:prstDash val="solid"/>
                      <a:round/>
                      <a:headEnd type="none" w="med" len="med"/>
                      <a:tailEnd type="none" w="med" len="med"/>
                    </a:lnT>
                    <a:lnB w="12700" cap="flat" cmpd="sng" algn="ctr">
                      <a:solidFill>
                        <a:srgbClr val="465463"/>
                      </a:solidFill>
                      <a:prstDash val="solid"/>
                      <a:round/>
                      <a:headEnd type="none" w="med" len="med"/>
                      <a:tailEnd type="none" w="med" len="med"/>
                    </a:lnB>
                  </a:tcPr>
                </a:tc>
                <a:tc>
                  <a:txBody>
                    <a:bodyPr/>
                    <a:lstStyle/>
                    <a:p>
                      <a:pPr indent="0" marL="0">
                        <a:lnSpc>
                          <a:spcPts val="2100"/>
                        </a:lnSpc>
                        <a:buNone/>
                      </a:pPr>
                      <a:r>
                        <a:rPr lang="en-US" sz="1500" dirty="0">
                          <a:solidFill>
                            <a:srgbClr val="DBE3EC"/>
                          </a:solidFill>
                          <a:latin typeface="IBM Plex Sans" pitchFamily="34" charset="0"/>
                          <a:ea typeface="IBM Plex Sans" pitchFamily="34" charset="-122"/>
                          <a:cs typeface="IBM Plex Sans" pitchFamily="34" charset="-120"/>
                        </a:rPr>
                        <a:t>Per barrel, bypass pipelines; at full scale, reserves — but only until they run out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65463"/>
                      </a:solidFill>
                      <a:prstDash val="solid"/>
                      <a:round/>
                      <a:headEnd type="none" w="med" len="med"/>
                      <a:tailEnd type="none" w="med" len="med"/>
                    </a:lnL>
                    <a:lnR w="12700" cap="flat" cmpd="sng" algn="ctr">
                      <a:solidFill>
                        <a:srgbClr val="465463"/>
                      </a:solidFill>
                      <a:prstDash val="solid"/>
                      <a:round/>
                      <a:headEnd type="none" w="med" len="med"/>
                      <a:tailEnd type="none" w="med" len="med"/>
                    </a:lnR>
                    <a:lnT w="12700" cap="flat" cmpd="sng" algn="ctr">
                      <a:solidFill>
                        <a:srgbClr val="54616F"/>
                      </a:solidFill>
                      <a:prstDash val="solid"/>
                      <a:round/>
                      <a:headEnd type="none" w="med" len="med"/>
                      <a:tailEnd type="none" w="med" len="med"/>
                    </a:lnT>
                    <a:lnB w="12700" cap="flat" cmpd="sng" algn="ctr">
                      <a:solidFill>
                        <a:srgbClr val="465463"/>
                      </a:solidFill>
                      <a:prstDash val="solid"/>
                      <a:round/>
                      <a:headEnd type="none" w="med" len="med"/>
                      <a:tailEnd type="none" w="med" len="med"/>
                    </a:lnB>
                  </a:tcPr>
                </a:tc>
              </a:tr>
              <a:tr h="412750">
                <a:tc>
                  <a:txBody>
                    <a:bodyPr/>
                    <a:lstStyle/>
                    <a:p>
                      <a:pPr indent="0" marL="0">
                        <a:lnSpc>
                          <a:spcPts val="2100"/>
                        </a:lnSpc>
                        <a:buNone/>
                      </a:pPr>
                      <a:r>
                        <a:rPr lang="en-US" sz="1500" dirty="0">
                          <a:solidFill>
                            <a:srgbClr val="E8A046"/>
                          </a:solidFill>
                          <a:latin typeface="IBM Plex Sans" pitchFamily="34" charset="0"/>
                          <a:ea typeface="IBM Plex Sans" pitchFamily="34" charset="-122"/>
                          <a:cs typeface="IBM Plex Sans" pitchFamily="34" charset="-120"/>
                        </a:rPr>
                        <a:t>Q3</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65463"/>
                      </a:solidFill>
                      <a:prstDash val="solid"/>
                      <a:round/>
                      <a:headEnd type="none" w="med" len="med"/>
                      <a:tailEnd type="none" w="med" len="med"/>
                    </a:lnL>
                    <a:lnR w="12700" cap="flat" cmpd="sng" algn="ctr">
                      <a:solidFill>
                        <a:srgbClr val="465463"/>
                      </a:solidFill>
                      <a:prstDash val="solid"/>
                      <a:round/>
                      <a:headEnd type="none" w="med" len="med"/>
                      <a:tailEnd type="none" w="med" len="med"/>
                    </a:lnR>
                    <a:lnT w="12700" cap="flat" cmpd="sng" algn="ctr">
                      <a:solidFill>
                        <a:srgbClr val="465463"/>
                      </a:solidFill>
                      <a:prstDash val="solid"/>
                      <a:round/>
                      <a:headEnd type="none" w="med" len="med"/>
                      <a:tailEnd type="none" w="med" len="med"/>
                    </a:lnT>
                    <a:lnB w="12700" cap="flat" cmpd="sng" algn="ctr">
                      <a:solidFill>
                        <a:srgbClr val="465463"/>
                      </a:solidFill>
                      <a:prstDash val="solid"/>
                      <a:round/>
                      <a:headEnd type="none" w="med" len="med"/>
                      <a:tailEnd type="none" w="med" len="med"/>
                    </a:lnB>
                  </a:tcPr>
                </a:tc>
                <a:tc>
                  <a:txBody>
                    <a:bodyPr/>
                    <a:lstStyle/>
                    <a:p>
                      <a:pPr indent="0" marL="0">
                        <a:lnSpc>
                          <a:spcPts val="2100"/>
                        </a:lnSpc>
                        <a:buNone/>
                      </a:pPr>
                      <a:r>
                        <a:rPr lang="en-US" sz="1500" dirty="0">
                          <a:solidFill>
                            <a:srgbClr val="DBE3EC"/>
                          </a:solidFill>
                          <a:latin typeface="IBM Plex Sans" pitchFamily="34" charset="0"/>
                          <a:ea typeface="IBM Plex Sans" pitchFamily="34" charset="-122"/>
                          <a:cs typeface="IBM Plex Sans" pitchFamily="34" charset="-120"/>
                        </a:rPr>
                        <a:t>Yes: closing Bab el-Mandeb too adds 49%, because the bypass runs through it</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65463"/>
                      </a:solidFill>
                      <a:prstDash val="solid"/>
                      <a:round/>
                      <a:headEnd type="none" w="med" len="med"/>
                      <a:tailEnd type="none" w="med" len="med"/>
                    </a:lnL>
                    <a:lnR w="12700" cap="flat" cmpd="sng" algn="ctr">
                      <a:solidFill>
                        <a:srgbClr val="465463"/>
                      </a:solidFill>
                      <a:prstDash val="solid"/>
                      <a:round/>
                      <a:headEnd type="none" w="med" len="med"/>
                      <a:tailEnd type="none" w="med" len="med"/>
                    </a:lnR>
                    <a:lnT w="12700" cap="flat" cmpd="sng" algn="ctr">
                      <a:solidFill>
                        <a:srgbClr val="465463"/>
                      </a:solidFill>
                      <a:prstDash val="solid"/>
                      <a:round/>
                      <a:headEnd type="none" w="med" len="med"/>
                      <a:tailEnd type="none" w="med" len="med"/>
                    </a:lnT>
                    <a:lnB w="12700" cap="flat" cmpd="sng" algn="ctr">
                      <a:solidFill>
                        <a:srgbClr val="465463"/>
                      </a:solidFill>
                      <a:prstDash val="solid"/>
                      <a:round/>
                      <a:headEnd type="none" w="med" len="med"/>
                      <a:tailEnd type="none" w="med" len="med"/>
                    </a:lnB>
                  </a:tcPr>
                </a:tc>
              </a:tr>
              <a:tr h="412750">
                <a:tc>
                  <a:txBody>
                    <a:bodyPr/>
                    <a:lstStyle/>
                    <a:p>
                      <a:pPr indent="0" marL="0">
                        <a:lnSpc>
                          <a:spcPts val="2100"/>
                        </a:lnSpc>
                        <a:buNone/>
                      </a:pPr>
                      <a:r>
                        <a:rPr lang="en-US" sz="1500" dirty="0">
                          <a:solidFill>
                            <a:srgbClr val="E8A046"/>
                          </a:solidFill>
                          <a:latin typeface="IBM Plex Sans" pitchFamily="34" charset="0"/>
                          <a:ea typeface="IBM Plex Sans" pitchFamily="34" charset="-122"/>
                          <a:cs typeface="IBM Plex Sans" pitchFamily="34" charset="-120"/>
                        </a:rPr>
                        <a:t>Q4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65463"/>
                      </a:solidFill>
                      <a:prstDash val="solid"/>
                      <a:round/>
                      <a:headEnd type="none" w="med" len="med"/>
                      <a:tailEnd type="none" w="med" len="med"/>
                    </a:lnL>
                    <a:lnR w="12700" cap="flat" cmpd="sng" algn="ctr">
                      <a:solidFill>
                        <a:srgbClr val="465463"/>
                      </a:solidFill>
                      <a:prstDash val="solid"/>
                      <a:round/>
                      <a:headEnd type="none" w="med" len="med"/>
                      <a:tailEnd type="none" w="med" len="med"/>
                    </a:lnR>
                    <a:lnT w="12700" cap="flat" cmpd="sng" algn="ctr">
                      <a:solidFill>
                        <a:srgbClr val="465463"/>
                      </a:solidFill>
                      <a:prstDash val="solid"/>
                      <a:round/>
                      <a:headEnd type="none" w="med" len="med"/>
                      <a:tailEnd type="none" w="med" len="med"/>
                    </a:lnT>
                    <a:lnB w="12700" cap="flat" cmpd="sng" algn="ctr">
                      <a:solidFill>
                        <a:srgbClr val="465463"/>
                      </a:solidFill>
                      <a:prstDash val="solid"/>
                      <a:round/>
                      <a:headEnd type="none" w="med" len="med"/>
                      <a:tailEnd type="none" w="med" len="med"/>
                    </a:lnB>
                  </a:tcPr>
                </a:tc>
                <a:tc>
                  <a:txBody>
                    <a:bodyPr/>
                    <a:lstStyle/>
                    <a:p>
                      <a:pPr indent="0" marL="0">
                        <a:lnSpc>
                          <a:spcPts val="2100"/>
                        </a:lnSpc>
                        <a:buNone/>
                      </a:pPr>
                      <a:r>
                        <a:rPr lang="en-US" sz="1500" dirty="0">
                          <a:solidFill>
                            <a:srgbClr val="DBE3EC"/>
                          </a:solidFill>
                          <a:latin typeface="IBM Plex Sans" pitchFamily="34" charset="0"/>
                          <a:ea typeface="IBM Plex Sans" pitchFamily="34" charset="-122"/>
                          <a:cs typeface="IBM Plex Sans" pitchFamily="34" charset="-120"/>
                        </a:rPr>
                        <a:t>Yes: pooled reserves would hold the price near $81 instead of $151</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65463"/>
                      </a:solidFill>
                      <a:prstDash val="solid"/>
                      <a:round/>
                      <a:headEnd type="none" w="med" len="med"/>
                      <a:tailEnd type="none" w="med" len="med"/>
                    </a:lnL>
                    <a:lnR w="12700" cap="flat" cmpd="sng" algn="ctr">
                      <a:solidFill>
                        <a:srgbClr val="465463"/>
                      </a:solidFill>
                      <a:prstDash val="solid"/>
                      <a:round/>
                      <a:headEnd type="none" w="med" len="med"/>
                      <a:tailEnd type="none" w="med" len="med"/>
                    </a:lnR>
                    <a:lnT w="12700" cap="flat" cmpd="sng" algn="ctr">
                      <a:solidFill>
                        <a:srgbClr val="465463"/>
                      </a:solidFill>
                      <a:prstDash val="solid"/>
                      <a:round/>
                      <a:headEnd type="none" w="med" len="med"/>
                      <a:tailEnd type="none" w="med" len="med"/>
                    </a:lnT>
                    <a:lnB w="12700" cap="flat" cmpd="sng" algn="ctr">
                      <a:solidFill>
                        <a:srgbClr val="465463"/>
                      </a:solidFill>
                      <a:prstDash val="solid"/>
                      <a:round/>
                      <a:headEnd type="none" w="med" len="med"/>
                      <a:tailEnd type="none" w="med" len="med"/>
                    </a:lnB>
                  </a:tcPr>
                </a:tc>
              </a:tr>
              <a:tr h="412750">
                <a:tc>
                  <a:txBody>
                    <a:bodyPr/>
                    <a:lstStyle/>
                    <a:p>
                      <a:pPr indent="0" marL="0">
                        <a:lnSpc>
                          <a:spcPts val="2100"/>
                        </a:lnSpc>
                        <a:buNone/>
                      </a:pPr>
                      <a:r>
                        <a:rPr lang="en-US" sz="1500" dirty="0">
                          <a:solidFill>
                            <a:srgbClr val="E8A046"/>
                          </a:solidFill>
                          <a:latin typeface="IBM Plex Sans" pitchFamily="34" charset="0"/>
                          <a:ea typeface="IBM Plex Sans" pitchFamily="34" charset="-122"/>
                          <a:cs typeface="IBM Plex Sans" pitchFamily="34" charset="-120"/>
                        </a:rPr>
                        <a:t>Q5</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65463"/>
                      </a:solidFill>
                      <a:prstDash val="solid"/>
                      <a:round/>
                      <a:headEnd type="none" w="med" len="med"/>
                      <a:tailEnd type="none" w="med" len="med"/>
                    </a:lnL>
                    <a:lnR w="12700" cap="flat" cmpd="sng" algn="ctr">
                      <a:solidFill>
                        <a:srgbClr val="465463"/>
                      </a:solidFill>
                      <a:prstDash val="solid"/>
                      <a:round/>
                      <a:headEnd type="none" w="med" len="med"/>
                      <a:tailEnd type="none" w="med" len="med"/>
                    </a:lnR>
                    <a:lnT w="12700" cap="flat" cmpd="sng" algn="ctr">
                      <a:solidFill>
                        <a:srgbClr val="465463"/>
                      </a:solidFill>
                      <a:prstDash val="solid"/>
                      <a:round/>
                      <a:headEnd type="none" w="med" len="med"/>
                      <a:tailEnd type="none" w="med" len="med"/>
                    </a:lnT>
                    <a:lnB w="12700" cap="flat" cmpd="sng" algn="ctr">
                      <a:solidFill>
                        <a:srgbClr val="465463"/>
                      </a:solidFill>
                      <a:prstDash val="solid"/>
                      <a:round/>
                      <a:headEnd type="none" w="med" len="med"/>
                      <a:tailEnd type="none" w="med" len="med"/>
                    </a:lnB>
                  </a:tcPr>
                </a:tc>
                <a:tc>
                  <a:txBody>
                    <a:bodyPr/>
                    <a:lstStyle/>
                    <a:p>
                      <a:pPr indent="0" marL="0">
                        <a:lnSpc>
                          <a:spcPts val="2100"/>
                        </a:lnSpc>
                        <a:buNone/>
                      </a:pPr>
                      <a:r>
                        <a:rPr lang="en-US" sz="1500" dirty="0">
                          <a:solidFill>
                            <a:srgbClr val="DBE3EC"/>
                          </a:solidFill>
                          <a:latin typeface="IBM Plex Sans" pitchFamily="34" charset="0"/>
                          <a:ea typeface="IBM Plex Sans" pitchFamily="34" charset="-122"/>
                          <a:cs typeface="IBM Plex Sans" pitchFamily="34" charset="-120"/>
                        </a:rPr>
                        <a:t>Capacity: the network's shape is more robust than random graphs</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65463"/>
                      </a:solidFill>
                      <a:prstDash val="solid"/>
                      <a:round/>
                      <a:headEnd type="none" w="med" len="med"/>
                      <a:tailEnd type="none" w="med" len="med"/>
                    </a:lnL>
                    <a:lnR w="12700" cap="flat" cmpd="sng" algn="ctr">
                      <a:solidFill>
                        <a:srgbClr val="465463"/>
                      </a:solidFill>
                      <a:prstDash val="solid"/>
                      <a:round/>
                      <a:headEnd type="none" w="med" len="med"/>
                      <a:tailEnd type="none" w="med" len="med"/>
                    </a:lnR>
                    <a:lnT w="12700" cap="flat" cmpd="sng" algn="ctr">
                      <a:solidFill>
                        <a:srgbClr val="465463"/>
                      </a:solidFill>
                      <a:prstDash val="solid"/>
                      <a:round/>
                      <a:headEnd type="none" w="med" len="med"/>
                      <a:tailEnd type="none" w="med" len="med"/>
                    </a:lnT>
                    <a:lnB w="12700" cap="flat" cmpd="sng" algn="ctr">
                      <a:solidFill>
                        <a:srgbClr val="465463"/>
                      </a:solidFill>
                      <a:prstDash val="solid"/>
                      <a:round/>
                      <a:headEnd type="none" w="med" len="med"/>
                      <a:tailEnd type="none" w="med" len="med"/>
                    </a:lnB>
                  </a:tcPr>
                </a:tc>
              </a:tr>
              <a:tr h="412750">
                <a:tc>
                  <a:txBody>
                    <a:bodyPr/>
                    <a:lstStyle/>
                    <a:p>
                      <a:pPr indent="0" marL="0">
                        <a:lnSpc>
                          <a:spcPts val="2100"/>
                        </a:lnSpc>
                        <a:buNone/>
                      </a:pPr>
                      <a:r>
                        <a:rPr lang="en-US" sz="1500" dirty="0">
                          <a:solidFill>
                            <a:srgbClr val="E8A046"/>
                          </a:solidFill>
                          <a:latin typeface="IBM Plex Sans" pitchFamily="34" charset="0"/>
                          <a:ea typeface="IBM Plex Sans" pitchFamily="34" charset="-122"/>
                          <a:cs typeface="IBM Plex Sans" pitchFamily="34" charset="-120"/>
                        </a:rPr>
                        <a:t>Q6</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65463"/>
                      </a:solidFill>
                      <a:prstDash val="solid"/>
                      <a:round/>
                      <a:headEnd type="none" w="med" len="med"/>
                      <a:tailEnd type="none" w="med" len="med"/>
                    </a:lnL>
                    <a:lnR w="12700" cap="flat" cmpd="sng" algn="ctr">
                      <a:solidFill>
                        <a:srgbClr val="465463"/>
                      </a:solidFill>
                      <a:prstDash val="solid"/>
                      <a:round/>
                      <a:headEnd type="none" w="med" len="med"/>
                      <a:tailEnd type="none" w="med" len="med"/>
                    </a:lnR>
                    <a:lnT w="12700" cap="flat" cmpd="sng" algn="ctr">
                      <a:solidFill>
                        <a:srgbClr val="465463"/>
                      </a:solidFill>
                      <a:prstDash val="solid"/>
                      <a:round/>
                      <a:headEnd type="none" w="med" len="med"/>
                      <a:tailEnd type="none" w="med" len="med"/>
                    </a:lnT>
                    <a:lnB w="12700" cap="flat" cmpd="sng" algn="ctr">
                      <a:solidFill>
                        <a:srgbClr val="465463"/>
                      </a:solidFill>
                      <a:prstDash val="solid"/>
                      <a:round/>
                      <a:headEnd type="none" w="med" len="med"/>
                      <a:tailEnd type="none" w="med" len="med"/>
                    </a:lnB>
                  </a:tcPr>
                </a:tc>
                <a:tc>
                  <a:txBody>
                    <a:bodyPr/>
                    <a:lstStyle/>
                    <a:p>
                      <a:pPr indent="0" marL="0">
                        <a:lnSpc>
                          <a:spcPts val="2100"/>
                        </a:lnSpc>
                        <a:buNone/>
                      </a:pPr>
                      <a:r>
                        <a:rPr lang="en-US" sz="1500" dirty="0">
                          <a:solidFill>
                            <a:srgbClr val="DBE3EC"/>
                          </a:solidFill>
                          <a:latin typeface="IBM Plex Sans" pitchFamily="34" charset="0"/>
                          <a:ea typeface="IBM Plex Sans" pitchFamily="34" charset="-122"/>
                          <a:cs typeface="IBM Plex Sans" pitchFamily="34" charset="-120"/>
                        </a:rPr>
                        <a:t>Letting prices share the shortage raises the threshold to 64%</a:t>
                      </a:r>
                      <a:endParaRPr lang="en-US" sz="1500" dirty="0">
                        <a:latin typeface="IBM Plex Sans" charset="0"/>
                        <a:ea typeface="IBM Plex Sans" charset="0"/>
                        <a:cs typeface="IBM Plex Sans" charset="0"/>
                      </a:endParaRPr>
                    </a:p>
                  </a:txBody>
                  <a:tcPr marL="66675" marR="66675" marT="66675" marB="66675" anchor="t">
                    <a:lnL w="12700" cap="flat" cmpd="sng" algn="ctr">
                      <a:solidFill>
                        <a:srgbClr val="465463"/>
                      </a:solidFill>
                      <a:prstDash val="solid"/>
                      <a:round/>
                      <a:headEnd type="none" w="med" len="med"/>
                      <a:tailEnd type="none" w="med" len="med"/>
                    </a:lnL>
                    <a:lnR w="12700" cap="flat" cmpd="sng" algn="ctr">
                      <a:solidFill>
                        <a:srgbClr val="465463"/>
                      </a:solidFill>
                      <a:prstDash val="solid"/>
                      <a:round/>
                      <a:headEnd type="none" w="med" len="med"/>
                      <a:tailEnd type="none" w="med" len="med"/>
                    </a:lnR>
                    <a:lnT w="12700" cap="flat" cmpd="sng" algn="ctr">
                      <a:solidFill>
                        <a:srgbClr val="465463"/>
                      </a:solidFill>
                      <a:prstDash val="solid"/>
                      <a:round/>
                      <a:headEnd type="none" w="med" len="med"/>
                      <a:tailEnd type="none" w="med" len="med"/>
                    </a:lnT>
                    <a:lnB w="12700" cap="flat" cmpd="sng" algn="ctr">
                      <a:solidFill>
                        <a:srgbClr val="465463"/>
                      </a:solidFill>
                      <a:prstDash val="solid"/>
                      <a:round/>
                      <a:headEnd type="none" w="med" len="med"/>
                      <a:tailEnd type="none" w="med" len="med"/>
                    </a:lnB>
                  </a:tcPr>
                </a:tc>
              </a:tr>
            </a:tbl>
          </a:graphicData>
        </a:graphic>
      </p:graphicFrame>
      <p:sp>
        <p:nvSpPr>
          <p:cNvPr id="5" name="Text 2"/>
          <p:cNvSpPr/>
          <p:nvPr/>
        </p:nvSpPr>
        <p:spPr>
          <a:xfrm>
            <a:off x="812800" y="6238242"/>
            <a:ext cx="10883392" cy="23876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C6"/>
                </a:solidFill>
                <a:latin typeface="IBM Plex Sans" pitchFamily="34" charset="0"/>
                <a:ea typeface="IBM Plex Sans" pitchFamily="34" charset="-122"/>
                <a:cs typeface="IBM Plex Sans" pitchFamily="34" charset="-120"/>
              </a:rPr>
              <a:t>Generative AI (Claude) assisted with code and drafting; the question, modelling decisions and error review are my own · 21</a:t>
            </a:r>
            <a:endParaRPr lang="en-US" sz="1200" dirty="0"/>
          </a:p>
        </p:txBody>
      </p:sp>
    </p:spTree>
  </p:cSld>
  <p:clrMapOvr>
    <a:masterClrMapping/>
  </p:clrMapOvr>
</p:sld>
</file>

<file path=ppt/theme/theme1.xml><?xml version="1.0" encoding="utf-8"?>
<a:theme xmlns:a="http://schemas.openxmlformats.org/drawingml/2006/main" name="Chokepoint Disruption — Demo (simple)">
  <a:themeElements>
    <a:clrScheme name="Chokepoint Disruption — Demo (simple)">
      <a:dk1>
        <a:srgbClr val="13253A"/>
      </a:dk1>
      <a:lt1>
        <a:srgbClr val="FBF9F5"/>
      </a:lt1>
      <a:dk2>
        <a:srgbClr val="4D5A69"/>
      </a:dk2>
      <a:lt2>
        <a:srgbClr val="E4E4E2"/>
      </a:lt2>
      <a:accent1>
        <a:srgbClr val="96560A"/>
      </a:accent1>
      <a:accent2>
        <a:srgbClr val="C1272D"/>
      </a:accent2>
      <a:accent3>
        <a:srgbClr val="E8A046"/>
      </a:accent3>
      <a:accent4>
        <a:srgbClr val="5B3A8C"/>
      </a:accent4>
      <a:accent5>
        <a:srgbClr val="1E7A3C"/>
      </a:accent5>
      <a:accent6>
        <a:srgbClr val="F6E6CB"/>
      </a:accent6>
      <a:hlink>
        <a:srgbClr val="0563C1"/>
      </a:hlink>
      <a:folHlink>
        <a:srgbClr val="954F72"/>
      </a:folHlink>
    </a:clrScheme>
    <a:fontScheme name="Chokepoint Disruption — Demo (simple)">
      <a:majorFont>
        <a:latin typeface="Source Serif 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Chokepoint Disruption — Demo (simple)</dc:title>
  <dc:subject/>
  <dc:creator/>
  <cp:lastModifiedBy/>
  <cp:revision>1</cp:revision>
  <dcterms:created xsi:type="dcterms:W3CDTF">2026-10-11T18:30:30Z</dcterms:created>
  <dcterms:modified xsi:type="dcterms:W3CDTF">2026-10-11T18:30:30Z</dcterms:modified>
</cp:coreProperties>
</file>